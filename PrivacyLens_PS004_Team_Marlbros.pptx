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72" r:id="rId3"/>
    <p:sldId id="260" r:id="rId4"/>
    <p:sldId id="261" r:id="rId5"/>
    <p:sldId id="262" r:id="rId6"/>
    <p:sldId id="273" r:id="rId7"/>
    <p:sldId id="274" r:id="rId8"/>
    <p:sldId id="275"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7162F54-E08E-03E9-AF7B-38C14B63E4B0}">
          <p14:sldIdLst>
            <p14:sldId id="256"/>
            <p14:sldId id="272"/>
          </p14:sldIdLst>
        </p14:section>
        <p14:section name="Brief" id="{EB08A929-DAB4-513D-870F-C7DDF4AD2575}">
          <p14:sldIdLst/>
        </p14:section>
        <p14:section name="Design" id="{F4A5A361-93D0-8995-380E-CFB90737A7C1}">
          <p14:sldIdLst>
            <p14:sldId id="260"/>
            <p14:sldId id="261"/>
            <p14:sldId id="262"/>
            <p14:sldId id="273"/>
            <p14:sldId id="274"/>
            <p14:sldId id="275"/>
          </p14:sldIdLst>
        </p14:section>
        <p14:section name="Engineering" id="{34DABA55-9D5F-FF67-51AC-331B97E71561}">
          <p14:sldIdLst/>
        </p14:section>
        <p14:section name="Evidence" id="{1A5601B7-EC50-0CD6-FD1A-24A851C8EEF2}">
          <p14:sldIdLst/>
        </p14:section>
        <p14:section name="Close" id="{51BC720D-CBD8-C77F-836F-0FF97B03B8D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20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364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PrivacyLens is a privacy-preserving AI browser agent. The idea in one line: compute what is sensitive locally, and let the cloud model reason only on sanitized data. The redacted form on the right is what the model never sees. Use the topic chips at the bottom to jump anywhere in the deck.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problem in one breath: agents send screenshots and page data to a cloud model, and that data contains Aadhaar, PAN, passwords, OTPs and keys. PS-004 asks for four things: detect, sanitize, reason safely, validate. Read down the right-hand column: each task maps to one concrete mechanism we built. Stack: Python 3.11 and Playwright for the browser, regex with Luhn and Verhoeff plus DOM rules, OCR, spaCy and OpenCV for detection, Pydantic contracts, Claude API in cloud mode or an Ollama VLM in local mode, FastAPI for the X-Ray interface.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not just redact? A tag like [REDACTED:EMAIL] strips meaning, so the agent can not tell what the field expects. A realistic synthetic email keeps format and context. The real value stays local and is typed back only into the approved field by the executor.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trusted gateway sits between the browser and the model. Everything on the left is trusted and local; the cloud model sees synthetic data only. The private map never enters the model-bound payload, risky actions need approval, and any failure blocks sending. Modules P1 to P4 own the four boxes, with shared typed contracts.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one email through seven steps. Snapshot, detect, swap and sanitize, then the egress firewall as the last gate. The model returns an action, we validate it, and the real value is restored locally. If a secret is found in the outgoing payload we block, log, and send nothing.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visible controls make the prototype demonstrable, not just claimed: the firewall blocks a canary live, intent-aware filtering reveals the minimum, the time machine replays decisions without storing values, the injection trap rejects off-domain navigation, and the X-Ray shows what the AI actually sees. Against redaction-only tools we keep the page understandable; against typical agents we actually hide the data and check the outgoing payload. Mosaic Shield (risk score R = sum of w_i s_i + lambda C) is proposed, not yet calibrated.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the same checkout page twice. The real one stays local; the screenshot that leaves the machine has every sensitive field blacked out. Middle: we deliberately disabled the sanitizer and the egress firewall still blocked the payload because it found the original email, phone, card and Aadhaar. Right: 19 of 19 planted secrets detected, zero originals in outgoing payloads, 5 of 5 sabotaged payloads blocked. Be upfront about scope: this is the text and DOM pathway on five synthetic pages. Our first run missed a phone number inside a tel: link, the firewall blocked that payload, and we fixed the regex. Screenshots, OCR, names and faces are not yet measured. Everything reproduces with python run_proof.py.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roadmap: Mosaic Shield is next, catching combinations of harmless-looking details that identify a person; then a fully local mode where nothing leaves the machine; then policy and audit for enterprises. Land the tagline: secrets stay local, agents stay smart. 19 of 19 detected, 0 leaked, 5 of 5 sabotaged payloads blocked. Then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slide" Target="slide2.xml"/><Relationship Id="rId7" Type="http://schemas.openxmlformats.org/officeDocument/2006/relationships/slide" Target="slide6.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slide" Target="slide5.xml"/><Relationship Id="rId5" Type="http://schemas.openxmlformats.org/officeDocument/2006/relationships/slide" Target="slide4.xml"/><Relationship Id="rId4" Type="http://schemas.openxmlformats.org/officeDocument/2006/relationships/slide" Target="slide3.xml"/><Relationship Id="rId9" Type="http://schemas.openxmlformats.org/officeDocument/2006/relationships/slide" Target="slide8.xml"/></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1.xml"/><Relationship Id="rId7"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3.xml"/><Relationship Id="rId10" Type="http://schemas.openxmlformats.org/officeDocument/2006/relationships/slide" Target="slide8.xml"/><Relationship Id="rId4" Type="http://schemas.openxmlformats.org/officeDocument/2006/relationships/slide" Target="slide2.xml"/><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1.xml"/><Relationship Id="rId7" Type="http://schemas.openxmlformats.org/officeDocument/2006/relationships/slide" Target="slide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3.xml"/><Relationship Id="rId10" Type="http://schemas.openxmlformats.org/officeDocument/2006/relationships/slide" Target="slide8.xml"/><Relationship Id="rId4" Type="http://schemas.openxmlformats.org/officeDocument/2006/relationships/slide" Target="slide2.xml"/><Relationship Id="rId9" Type="http://schemas.openxmlformats.org/officeDocument/2006/relationships/slide" Target="slide7.xml"/></Relationships>
</file>

<file path=ppt/slides/_rels/slide4.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1.xml"/><Relationship Id="rId7"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3.xml"/><Relationship Id="rId10" Type="http://schemas.openxmlformats.org/officeDocument/2006/relationships/slide" Target="slide8.xml"/><Relationship Id="rId4" Type="http://schemas.openxmlformats.org/officeDocument/2006/relationships/slide" Target="slide2.xml"/><Relationship Id="rId9" Type="http://schemas.openxmlformats.org/officeDocument/2006/relationships/slide" Target="slide7.xml"/></Relationships>
</file>

<file path=ppt/slides/_rels/slide5.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1.xml"/><Relationship Id="rId7" Type="http://schemas.openxmlformats.org/officeDocument/2006/relationships/slide" Target="slide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3.xml"/><Relationship Id="rId10" Type="http://schemas.openxmlformats.org/officeDocument/2006/relationships/slide" Target="slide8.xml"/><Relationship Id="rId4" Type="http://schemas.openxmlformats.org/officeDocument/2006/relationships/slide" Target="slide2.xml"/><Relationship Id="rId9" Type="http://schemas.openxmlformats.org/officeDocument/2006/relationships/slide" Target="slide7.xml"/></Relationships>
</file>

<file path=ppt/slides/_rels/slide6.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1.xml"/><Relationship Id="rId7" Type="http://schemas.openxmlformats.org/officeDocument/2006/relationships/slide" Target="slide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3.xml"/><Relationship Id="rId10" Type="http://schemas.openxmlformats.org/officeDocument/2006/relationships/slide" Target="slide8.xml"/><Relationship Id="rId4" Type="http://schemas.openxmlformats.org/officeDocument/2006/relationships/slide" Target="slide2.xml"/><Relationship Id="rId9" Type="http://schemas.openxmlformats.org/officeDocument/2006/relationships/slide" Target="slide7.xml"/></Relationships>
</file>

<file path=ppt/slides/_rels/slide7.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3.png"/><Relationship Id="rId3" Type="http://schemas.openxmlformats.org/officeDocument/2006/relationships/slide" Target="slide1.xml"/><Relationship Id="rId7" Type="http://schemas.openxmlformats.org/officeDocument/2006/relationships/slide" Target="slide5.xml"/><Relationship Id="rId12"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slide" Target="slide4.xml"/><Relationship Id="rId11" Type="http://schemas.openxmlformats.org/officeDocument/2006/relationships/image" Target="../media/image1.png"/><Relationship Id="rId5" Type="http://schemas.openxmlformats.org/officeDocument/2006/relationships/slide" Target="slide3.xml"/><Relationship Id="rId10" Type="http://schemas.openxmlformats.org/officeDocument/2006/relationships/slide" Target="slide8.xml"/><Relationship Id="rId4" Type="http://schemas.openxmlformats.org/officeDocument/2006/relationships/slide" Target="slide2.xml"/><Relationship Id="rId9" Type="http://schemas.openxmlformats.org/officeDocument/2006/relationships/slide" Target="slide7.xml"/><Relationship Id="rId1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1.xml"/><Relationship Id="rId7" Type="http://schemas.openxmlformats.org/officeDocument/2006/relationships/slide" Target="slide5.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slide" Target="slide4.xml"/><Relationship Id="rId5" Type="http://schemas.openxmlformats.org/officeDocument/2006/relationships/slide" Target="slide3.xml"/><Relationship Id="rId10" Type="http://schemas.openxmlformats.org/officeDocument/2006/relationships/slide" Target="slide8.xml"/><Relationship Id="rId4" Type="http://schemas.openxmlformats.org/officeDocument/2006/relationships/slide" Target="slide2.xml"/><Relationship Id="rId9" Type="http://schemas.openxmlformats.org/officeDocument/2006/relationships/slide" Target="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nim"/>
          <p:cNvSpPr txBox="1"/>
          <p:nvPr/>
        </p:nvSpPr>
        <p:spPr>
          <a:xfrm>
            <a:off x="548640" y="822960"/>
            <a:ext cx="41148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PROBLEM STATEMENT 04</a:t>
            </a:r>
            <a:endParaRPr lang="en-US" sz="1200" dirty="0"/>
          </a:p>
        </p:txBody>
      </p:sp>
      <p:sp>
        <p:nvSpPr>
          <p:cNvPr id="3" name="anim"/>
          <p:cNvSpPr txBox="1"/>
          <p:nvPr/>
        </p:nvSpPr>
        <p:spPr>
          <a:xfrm>
            <a:off x="548640" y="1188720"/>
            <a:ext cx="4572000" cy="914400"/>
          </a:xfrm>
          <a:prstGeom prst="rect">
            <a:avLst/>
          </a:prstGeom>
          <a:noFill/>
          <a:ln/>
        </p:spPr>
        <p:txBody>
          <a:bodyPr wrap="square" lIns="0" tIns="0" rIns="0" bIns="0" rtlCol="0" anchor="t"/>
          <a:lstStyle/>
          <a:p>
            <a:pPr marL="0" indent="0">
              <a:buNone/>
            </a:pPr>
            <a:r>
              <a:rPr lang="en-US" sz="5400" b="1" dirty="0">
                <a:solidFill>
                  <a:schemeClr val="bg1"/>
                </a:solidFill>
                <a:latin typeface="+mj-lt" pitchFamily="34" charset="0"/>
                <a:ea typeface="+mj-lt" pitchFamily="34" charset="-122"/>
                <a:cs typeface="+mj-lt" pitchFamily="34" charset="-120"/>
              </a:rPr>
              <a:t>PrivacyLens</a:t>
            </a:r>
            <a:endParaRPr lang="en-US" sz="5400" dirty="0"/>
          </a:p>
        </p:txBody>
      </p:sp>
      <p:sp>
        <p:nvSpPr>
          <p:cNvPr id="4" name="anim"/>
          <p:cNvSpPr txBox="1"/>
          <p:nvPr/>
        </p:nvSpPr>
        <p:spPr>
          <a:xfrm>
            <a:off x="548640" y="2194560"/>
            <a:ext cx="4297680" cy="731520"/>
          </a:xfrm>
          <a:prstGeom prst="rect">
            <a:avLst/>
          </a:prstGeom>
          <a:noFill/>
          <a:ln/>
        </p:spPr>
        <p:txBody>
          <a:bodyPr wrap="square" lIns="0" tIns="0" rIns="0" bIns="0" rtlCol="0" anchor="t"/>
          <a:lstStyle/>
          <a:p>
            <a:pPr marL="0" indent="0">
              <a:buNone/>
            </a:pPr>
            <a:r>
              <a:rPr lang="en-US" sz="2000" dirty="0">
                <a:solidFill>
                  <a:schemeClr val="accent5"/>
                </a:solidFill>
              </a:rPr>
              <a:t>Building a Privacy-Preserving AI Browser Agent</a:t>
            </a:r>
            <a:endParaRPr lang="en-US" sz="2000" dirty="0"/>
          </a:p>
        </p:txBody>
      </p:sp>
      <p:sp>
        <p:nvSpPr>
          <p:cNvPr id="5" name="anim"/>
          <p:cNvSpPr txBox="1"/>
          <p:nvPr/>
        </p:nvSpPr>
        <p:spPr>
          <a:xfrm>
            <a:off x="548640" y="3017520"/>
            <a:ext cx="4114800" cy="640080"/>
          </a:xfrm>
          <a:prstGeom prst="rect">
            <a:avLst/>
          </a:prstGeom>
          <a:noFill/>
          <a:ln/>
        </p:spPr>
        <p:txBody>
          <a:bodyPr wrap="square" lIns="0" tIns="0" rIns="0" bIns="0" rtlCol="0" anchor="t"/>
          <a:lstStyle/>
          <a:p>
            <a:pPr marL="0" indent="0">
              <a:buNone/>
            </a:pPr>
            <a:r>
              <a:rPr lang="en-US" sz="1400" i="1" dirty="0">
                <a:solidFill>
                  <a:schemeClr val="bg1"/>
                </a:solidFill>
              </a:rPr>
              <a:t>Compute what is sensitive locally. Reason globally only on sanitized data.</a:t>
            </a:r>
            <a:endParaRPr lang="en-US" sz="1400" dirty="0"/>
          </a:p>
        </p:txBody>
      </p:sp>
      <p:sp>
        <p:nvSpPr>
          <p:cNvPr id="6" name="anim"/>
          <p:cNvSpPr txBox="1"/>
          <p:nvPr/>
        </p:nvSpPr>
        <p:spPr>
          <a:xfrm>
            <a:off x="548640" y="4114800"/>
            <a:ext cx="4572000" cy="320040"/>
          </a:xfrm>
          <a:prstGeom prst="rect">
            <a:avLst/>
          </a:prstGeom>
          <a:noFill/>
          <a:ln/>
        </p:spPr>
        <p:txBody>
          <a:bodyPr wrap="square" lIns="0" tIns="0" rIns="0" bIns="0" rtlCol="0" anchor="t"/>
          <a:lstStyle/>
          <a:p>
            <a:r>
              <a:rPr lang="en-US" sz="1100" dirty="0">
                <a:solidFill>
                  <a:schemeClr val="accent5"/>
                </a:solidFill>
              </a:rPr>
              <a:t>Team name  </a:t>
            </a:r>
            <a:r>
              <a:rPr lang="en-US" sz="1400" b="1" dirty="0">
                <a:solidFill>
                  <a:schemeClr val="bg1"/>
                </a:solidFill>
              </a:rPr>
              <a:t>The </a:t>
            </a:r>
            <a:r>
              <a:rPr lang="en-US" sz="1400" b="1" dirty="0" err="1">
                <a:solidFill>
                  <a:schemeClr val="bg1"/>
                </a:solidFill>
              </a:rPr>
              <a:t>Marlbros</a:t>
            </a:r>
            <a:r>
              <a:rPr lang="en-US" sz="1100" dirty="0">
                <a:solidFill>
                  <a:schemeClr val="accent5"/>
                </a:solidFill>
              </a:rPr>
              <a:t>      Team ID </a:t>
            </a:r>
            <a:r>
              <a:rPr lang="en-US" sz="1400" b="1" dirty="0">
                <a:solidFill>
                  <a:schemeClr val="bg1"/>
                </a:solidFill>
              </a:rPr>
              <a:t>EGVJH7</a:t>
            </a:r>
          </a:p>
        </p:txBody>
      </p:sp>
      <p:sp>
        <p:nvSpPr>
          <p:cNvPr id="7" name="anim paper"/>
          <p:cNvSpPr/>
          <p:nvPr/>
        </p:nvSpPr>
        <p:spPr>
          <a:xfrm>
            <a:off x="5212080" y="822960"/>
            <a:ext cx="3474720" cy="2926080"/>
          </a:xfrm>
          <a:prstGeom prst="rect">
            <a:avLst/>
          </a:prstGeom>
          <a:solidFill>
            <a:schemeClr val="bg1"/>
          </a:solidFill>
          <a:ln w="12700">
            <a:solidFill>
              <a:schemeClr val="bg1">
                <a:alpha val="0"/>
              </a:schemeClr>
            </a:solidFill>
            <a:prstDash val="solid"/>
          </a:ln>
        </p:spPr>
      </p:sp>
      <p:sp>
        <p:nvSpPr>
          <p:cNvPr id="8" name="anim"/>
          <p:cNvSpPr txBox="1"/>
          <p:nvPr/>
        </p:nvSpPr>
        <p:spPr>
          <a:xfrm>
            <a:off x="5440680" y="1143000"/>
            <a:ext cx="731520" cy="274320"/>
          </a:xfrm>
          <a:prstGeom prst="rect">
            <a:avLst/>
          </a:prstGeom>
          <a:noFill/>
          <a:ln/>
        </p:spPr>
        <p:txBody>
          <a:bodyPr wrap="square" lIns="0" tIns="0" rIns="0" bIns="0" rtlCol="0" anchor="ctr"/>
          <a:lstStyle/>
          <a:p>
            <a:pPr marL="0" indent="0">
              <a:buNone/>
            </a:pPr>
            <a:r>
              <a:rPr lang="en-US" sz="1200" dirty="0">
                <a:solidFill>
                  <a:schemeClr val="accent4"/>
                </a:solidFill>
              </a:rPr>
              <a:t>Name</a:t>
            </a:r>
            <a:endParaRPr lang="en-US" sz="1200" dirty="0"/>
          </a:p>
        </p:txBody>
      </p:sp>
      <p:sp>
        <p:nvSpPr>
          <p:cNvPr id="9" name="anim bar"/>
          <p:cNvSpPr/>
          <p:nvPr/>
        </p:nvSpPr>
        <p:spPr>
          <a:xfrm>
            <a:off x="6172200" y="1143000"/>
            <a:ext cx="1463040" cy="274320"/>
          </a:xfrm>
          <a:prstGeom prst="rect">
            <a:avLst/>
          </a:prstGeom>
          <a:solidFill>
            <a:srgbClr val="000000"/>
          </a:solidFill>
          <a:ln w="12700">
            <a:solidFill>
              <a:schemeClr val="bg1">
                <a:alpha val="0"/>
              </a:schemeClr>
            </a:solidFill>
            <a:prstDash val="solid"/>
          </a:ln>
        </p:spPr>
      </p:sp>
      <p:sp>
        <p:nvSpPr>
          <p:cNvPr id="10" name="anim"/>
          <p:cNvSpPr txBox="1"/>
          <p:nvPr/>
        </p:nvSpPr>
        <p:spPr>
          <a:xfrm>
            <a:off x="5440680" y="1709928"/>
            <a:ext cx="731520" cy="274320"/>
          </a:xfrm>
          <a:prstGeom prst="rect">
            <a:avLst/>
          </a:prstGeom>
          <a:noFill/>
          <a:ln/>
        </p:spPr>
        <p:txBody>
          <a:bodyPr wrap="square" lIns="0" tIns="0" rIns="0" bIns="0" rtlCol="0" anchor="ctr"/>
          <a:lstStyle/>
          <a:p>
            <a:pPr marL="0" indent="0">
              <a:buNone/>
            </a:pPr>
            <a:r>
              <a:rPr lang="en-US" sz="1200" dirty="0">
                <a:solidFill>
                  <a:schemeClr val="accent4"/>
                </a:solidFill>
              </a:rPr>
              <a:t>Email</a:t>
            </a:r>
            <a:endParaRPr lang="en-US" sz="1200" dirty="0"/>
          </a:p>
        </p:txBody>
      </p:sp>
      <p:sp>
        <p:nvSpPr>
          <p:cNvPr id="11" name="anim bar"/>
          <p:cNvSpPr/>
          <p:nvPr/>
        </p:nvSpPr>
        <p:spPr>
          <a:xfrm>
            <a:off x="6172200" y="1709928"/>
            <a:ext cx="2011680" cy="274320"/>
          </a:xfrm>
          <a:prstGeom prst="rect">
            <a:avLst/>
          </a:prstGeom>
          <a:solidFill>
            <a:srgbClr val="000000"/>
          </a:solidFill>
          <a:ln w="12700">
            <a:solidFill>
              <a:schemeClr val="bg1">
                <a:alpha val="0"/>
              </a:schemeClr>
            </a:solidFill>
            <a:prstDash val="solid"/>
          </a:ln>
        </p:spPr>
      </p:sp>
      <p:sp>
        <p:nvSpPr>
          <p:cNvPr id="12" name="anim"/>
          <p:cNvSpPr txBox="1"/>
          <p:nvPr/>
        </p:nvSpPr>
        <p:spPr>
          <a:xfrm>
            <a:off x="5440680" y="2276856"/>
            <a:ext cx="731520" cy="274320"/>
          </a:xfrm>
          <a:prstGeom prst="rect">
            <a:avLst/>
          </a:prstGeom>
          <a:noFill/>
          <a:ln/>
        </p:spPr>
        <p:txBody>
          <a:bodyPr wrap="square" lIns="0" tIns="0" rIns="0" bIns="0" rtlCol="0" anchor="ctr"/>
          <a:lstStyle/>
          <a:p>
            <a:pPr marL="0" indent="0">
              <a:buNone/>
            </a:pPr>
            <a:r>
              <a:rPr lang="en-US" sz="1200" dirty="0">
                <a:solidFill>
                  <a:schemeClr val="accent4"/>
                </a:solidFill>
              </a:rPr>
              <a:t>Card</a:t>
            </a:r>
            <a:endParaRPr lang="en-US" sz="1200" dirty="0"/>
          </a:p>
        </p:txBody>
      </p:sp>
      <p:sp>
        <p:nvSpPr>
          <p:cNvPr id="13" name="anim bar"/>
          <p:cNvSpPr/>
          <p:nvPr/>
        </p:nvSpPr>
        <p:spPr>
          <a:xfrm>
            <a:off x="6172200" y="2276856"/>
            <a:ext cx="2377440" cy="274320"/>
          </a:xfrm>
          <a:prstGeom prst="rect">
            <a:avLst/>
          </a:prstGeom>
          <a:solidFill>
            <a:srgbClr val="000000"/>
          </a:solidFill>
          <a:ln w="12700">
            <a:solidFill>
              <a:schemeClr val="bg1">
                <a:alpha val="0"/>
              </a:schemeClr>
            </a:solidFill>
            <a:prstDash val="solid"/>
          </a:ln>
        </p:spPr>
      </p:sp>
      <p:sp>
        <p:nvSpPr>
          <p:cNvPr id="14" name="anim"/>
          <p:cNvSpPr txBox="1"/>
          <p:nvPr/>
        </p:nvSpPr>
        <p:spPr>
          <a:xfrm>
            <a:off x="5440680" y="2843784"/>
            <a:ext cx="731520" cy="274320"/>
          </a:xfrm>
          <a:prstGeom prst="rect">
            <a:avLst/>
          </a:prstGeom>
          <a:noFill/>
          <a:ln/>
        </p:spPr>
        <p:txBody>
          <a:bodyPr wrap="square" lIns="0" tIns="0" rIns="0" bIns="0" rtlCol="0" anchor="ctr"/>
          <a:lstStyle/>
          <a:p>
            <a:pPr marL="0" indent="0">
              <a:buNone/>
            </a:pPr>
            <a:r>
              <a:rPr lang="en-US" sz="1200" dirty="0">
                <a:solidFill>
                  <a:schemeClr val="accent4"/>
                </a:solidFill>
              </a:rPr>
              <a:t>OTP</a:t>
            </a:r>
            <a:endParaRPr lang="en-US" sz="1200" dirty="0"/>
          </a:p>
        </p:txBody>
      </p:sp>
      <p:sp>
        <p:nvSpPr>
          <p:cNvPr id="15" name="anim bar"/>
          <p:cNvSpPr/>
          <p:nvPr/>
        </p:nvSpPr>
        <p:spPr>
          <a:xfrm>
            <a:off x="6172200" y="2843784"/>
            <a:ext cx="914400" cy="274320"/>
          </a:xfrm>
          <a:prstGeom prst="rect">
            <a:avLst/>
          </a:prstGeom>
          <a:solidFill>
            <a:srgbClr val="000000"/>
          </a:solidFill>
          <a:ln w="12700">
            <a:solidFill>
              <a:schemeClr val="bg1">
                <a:alpha val="0"/>
              </a:schemeClr>
            </a:solidFill>
            <a:prstDash val="solid"/>
          </a:ln>
        </p:spPr>
      </p:sp>
      <p:sp>
        <p:nvSpPr>
          <p:cNvPr id="16" name="anim cap"/>
          <p:cNvSpPr/>
          <p:nvPr/>
        </p:nvSpPr>
        <p:spPr>
          <a:xfrm>
            <a:off x="5212080" y="3886200"/>
            <a:ext cx="3474720" cy="566928"/>
          </a:xfrm>
          <a:prstGeom prst="rect">
            <a:avLst/>
          </a:prstGeom>
          <a:solidFill>
            <a:schemeClr val="accent2"/>
          </a:solidFill>
          <a:ln w="12700">
            <a:solidFill>
              <a:schemeClr val="bg1">
                <a:alpha val="0"/>
              </a:schemeClr>
            </a:solidFill>
            <a:prstDash val="solid"/>
          </a:ln>
        </p:spPr>
      </p:sp>
      <p:sp>
        <p:nvSpPr>
          <p:cNvPr id="17" name="cap"/>
          <p:cNvSpPr txBox="1"/>
          <p:nvPr/>
        </p:nvSpPr>
        <p:spPr>
          <a:xfrm>
            <a:off x="5349240" y="3886200"/>
            <a:ext cx="3200400" cy="566928"/>
          </a:xfrm>
          <a:prstGeom prst="rect">
            <a:avLst/>
          </a:prstGeom>
          <a:noFill/>
          <a:ln/>
        </p:spPr>
        <p:txBody>
          <a:bodyPr wrap="square" lIns="0" tIns="0" rIns="0" bIns="0" rtlCol="0" anchor="ctr"/>
          <a:lstStyle/>
          <a:p>
            <a:pPr marL="0" indent="0">
              <a:buNone/>
            </a:pPr>
            <a:r>
              <a:rPr lang="en-US" sz="1200" b="1" dirty="0">
                <a:solidFill>
                  <a:schemeClr val="bg1"/>
                </a:solidFill>
              </a:rPr>
              <a:t>The cloud model gets realistic synthetic values instead</a:t>
            </a:r>
            <a:endParaRPr lang="en-US" sz="1200" dirty="0"/>
          </a:p>
        </p:txBody>
      </p:sp>
      <p:sp>
        <p:nvSpPr>
          <p:cNvPr id="51" name="chip2">
            <a:hlinkClick r:id="rId3" action="ppaction://hlinksldjump" tooltip="2. Problem"/>
          </p:cNvPr>
          <p:cNvSpPr/>
          <p:nvPr/>
        </p:nvSpPr>
        <p:spPr>
          <a:xfrm>
            <a:off x="475488" y="4590288"/>
            <a:ext cx="1115568" cy="310896"/>
          </a:xfrm>
          <a:prstGeom prst="roundRect">
            <a:avLst>
              <a:gd name="adj" fmla="val 3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000" b="1">
                <a:solidFill>
                  <a:schemeClr val="accent6"/>
                </a:solidFill>
              </a:rPr>
              <a:t>2  </a:t>
            </a:r>
            <a:r>
              <a:rPr sz="1000">
                <a:solidFill>
                  <a:schemeClr val="bg1"/>
                </a:solidFill>
              </a:rPr>
              <a:t>Problem</a:t>
            </a:r>
          </a:p>
        </p:txBody>
      </p:sp>
      <p:sp>
        <p:nvSpPr>
          <p:cNvPr id="52" name="chip3">
            <a:hlinkClick r:id="rId4" action="ppaction://hlinksldjump" tooltip="3. Idea"/>
          </p:cNvPr>
          <p:cNvSpPr/>
          <p:nvPr/>
        </p:nvSpPr>
        <p:spPr>
          <a:xfrm>
            <a:off x="1655064" y="4590288"/>
            <a:ext cx="1115568" cy="310896"/>
          </a:xfrm>
          <a:prstGeom prst="roundRect">
            <a:avLst>
              <a:gd name="adj" fmla="val 3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000" b="1">
                <a:solidFill>
                  <a:schemeClr val="accent6"/>
                </a:solidFill>
              </a:rPr>
              <a:t>3  </a:t>
            </a:r>
            <a:r>
              <a:rPr sz="1000">
                <a:solidFill>
                  <a:schemeClr val="bg1"/>
                </a:solidFill>
              </a:rPr>
              <a:t>Idea</a:t>
            </a:r>
          </a:p>
        </p:txBody>
      </p:sp>
      <p:sp>
        <p:nvSpPr>
          <p:cNvPr id="53" name="chip4">
            <a:hlinkClick r:id="rId5" action="ppaction://hlinksldjump" tooltip="4. Architecture"/>
          </p:cNvPr>
          <p:cNvSpPr/>
          <p:nvPr/>
        </p:nvSpPr>
        <p:spPr>
          <a:xfrm>
            <a:off x="2834640" y="4590288"/>
            <a:ext cx="1115568" cy="310896"/>
          </a:xfrm>
          <a:prstGeom prst="roundRect">
            <a:avLst>
              <a:gd name="adj" fmla="val 3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000" b="1">
                <a:solidFill>
                  <a:schemeClr val="accent6"/>
                </a:solidFill>
              </a:rPr>
              <a:t>4  </a:t>
            </a:r>
            <a:r>
              <a:rPr sz="1000">
                <a:solidFill>
                  <a:schemeClr val="bg1"/>
                </a:solidFill>
              </a:rPr>
              <a:t>Architecture</a:t>
            </a:r>
          </a:p>
        </p:txBody>
      </p:sp>
      <p:sp>
        <p:nvSpPr>
          <p:cNvPr id="54" name="chip5">
            <a:hlinkClick r:id="rId6" action="ppaction://hlinksldjump" tooltip="5. Pipeline"/>
          </p:cNvPr>
          <p:cNvSpPr/>
          <p:nvPr/>
        </p:nvSpPr>
        <p:spPr>
          <a:xfrm>
            <a:off x="4014216" y="4590288"/>
            <a:ext cx="1115568" cy="310896"/>
          </a:xfrm>
          <a:prstGeom prst="roundRect">
            <a:avLst>
              <a:gd name="adj" fmla="val 3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000" b="1">
                <a:solidFill>
                  <a:schemeClr val="accent6"/>
                </a:solidFill>
              </a:rPr>
              <a:t>5  </a:t>
            </a:r>
            <a:r>
              <a:rPr sz="1000">
                <a:solidFill>
                  <a:schemeClr val="bg1"/>
                </a:solidFill>
              </a:rPr>
              <a:t>Pipeline</a:t>
            </a:r>
          </a:p>
        </p:txBody>
      </p:sp>
      <p:sp>
        <p:nvSpPr>
          <p:cNvPr id="55" name="chip6">
            <a:hlinkClick r:id="rId7" action="ppaction://hlinksldjump" tooltip="6. Different"/>
          </p:cNvPr>
          <p:cNvSpPr/>
          <p:nvPr/>
        </p:nvSpPr>
        <p:spPr>
          <a:xfrm>
            <a:off x="5193792" y="4590288"/>
            <a:ext cx="1115568" cy="310896"/>
          </a:xfrm>
          <a:prstGeom prst="roundRect">
            <a:avLst>
              <a:gd name="adj" fmla="val 3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000" b="1">
                <a:solidFill>
                  <a:schemeClr val="accent6"/>
                </a:solidFill>
              </a:rPr>
              <a:t>6  </a:t>
            </a:r>
            <a:r>
              <a:rPr sz="1000">
                <a:solidFill>
                  <a:schemeClr val="bg1"/>
                </a:solidFill>
              </a:rPr>
              <a:t>Different</a:t>
            </a:r>
          </a:p>
        </p:txBody>
      </p:sp>
      <p:sp>
        <p:nvSpPr>
          <p:cNvPr id="56" name="chip7">
            <a:hlinkClick r:id="rId8" action="ppaction://hlinksldjump" tooltip="7. Proof"/>
          </p:cNvPr>
          <p:cNvSpPr/>
          <p:nvPr/>
        </p:nvSpPr>
        <p:spPr>
          <a:xfrm>
            <a:off x="6373368" y="4590288"/>
            <a:ext cx="1115568" cy="310896"/>
          </a:xfrm>
          <a:prstGeom prst="roundRect">
            <a:avLst>
              <a:gd name="adj" fmla="val 3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000" b="1">
                <a:solidFill>
                  <a:schemeClr val="accent6"/>
                </a:solidFill>
              </a:rPr>
              <a:t>7  </a:t>
            </a:r>
            <a:r>
              <a:rPr sz="1000">
                <a:solidFill>
                  <a:schemeClr val="bg1"/>
                </a:solidFill>
              </a:rPr>
              <a:t>Proof</a:t>
            </a:r>
          </a:p>
        </p:txBody>
      </p:sp>
      <p:sp>
        <p:nvSpPr>
          <p:cNvPr id="57" name="chip8">
            <a:hlinkClick r:id="rId9" action="ppaction://hlinksldjump" tooltip="8. Roadmap"/>
          </p:cNvPr>
          <p:cNvSpPr/>
          <p:nvPr/>
        </p:nvSpPr>
        <p:spPr>
          <a:xfrm>
            <a:off x="7552944" y="4590288"/>
            <a:ext cx="1115568" cy="310896"/>
          </a:xfrm>
          <a:prstGeom prst="roundRect">
            <a:avLst>
              <a:gd name="adj" fmla="val 3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r>
              <a:rPr sz="1000" b="1">
                <a:solidFill>
                  <a:schemeClr val="accent6"/>
                </a:solidFill>
              </a:rPr>
              <a:t>8  </a:t>
            </a:r>
            <a:r>
              <a:rPr sz="1000">
                <a:solidFill>
                  <a:schemeClr val="bg1"/>
                </a:solidFill>
              </a:rPr>
              <a:t>Roadmap</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1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24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36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48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6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72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84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96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nodeType="withEffect">
                                  <p:stCondLst>
                                    <p:cond delay="108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12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132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144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nodeType="withEffect">
                                  <p:stCondLst>
                                    <p:cond delay="156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nodeType="withEffect">
                                  <p:stCondLst>
                                    <p:cond delay="168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rPr>
              <a:t>PS-004: the problem, and our answer</a:t>
            </a:r>
            <a:endParaRPr lang="en-US" sz="3000" dirty="0"/>
          </a:p>
        </p:txBody>
      </p:sp>
      <p:sp>
        <p:nvSpPr>
          <p:cNvPr id="3" name="text">
            <a:hlinkClick r:id="rId3" action="ppaction://hlinksldjump" tooltip="Back to title and topics"/>
          </p:cNvPr>
          <p:cNvSpPr txBox="1"/>
          <p:nvPr/>
        </p:nvSpPr>
        <p:spPr>
          <a:xfrm>
            <a:off x="457200" y="4786884"/>
            <a:ext cx="1097280" cy="228600"/>
          </a:xfrm>
          <a:prstGeom prst="rect">
            <a:avLst/>
          </a:prstGeom>
          <a:noFill/>
          <a:ln/>
        </p:spPr>
        <p:txBody>
          <a:bodyPr wrap="square" lIns="0" tIns="0" rIns="0" bIns="0" rtlCol="0" anchor="t"/>
          <a:lstStyle/>
          <a:p>
            <a:pPr marL="0" indent="0">
              <a:buNone/>
            </a:pPr>
            <a:r>
              <a:rPr lang="en-US" sz="1000" u="sng" dirty="0">
                <a:solidFill>
                  <a:schemeClr val="accent4"/>
                </a:solidFill>
              </a:rPr>
              <a:t>⌂ Home</a:t>
            </a:r>
            <a:endParaRPr lang="en-US" sz="1000" dirty="0"/>
          </a:p>
        </p:txBody>
      </p:sp>
      <p:sp>
        <p:nvSpPr>
          <p:cNvPr id="4"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2</a:t>
            </a:fld>
            <a:endParaRPr lang="en-US"/>
          </a:p>
        </p:txBody>
      </p:sp>
      <p:sp>
        <p:nvSpPr>
          <p:cNvPr id="5" name="anim intro"/>
          <p:cNvSpPr txBox="1"/>
          <p:nvPr/>
        </p:nvSpPr>
        <p:spPr>
          <a:xfrm>
            <a:off x="457200" y="932688"/>
            <a:ext cx="8229600" cy="457200"/>
          </a:xfrm>
          <a:prstGeom prst="rect">
            <a:avLst/>
          </a:prstGeom>
          <a:noFill/>
        </p:spPr>
        <p:txBody>
          <a:bodyPr wrap="square" lIns="0" tIns="0" rIns="0" bIns="0" anchor="t">
            <a:spAutoFit/>
          </a:bodyPr>
          <a:lstStyle/>
          <a:p>
            <a:pPr>
              <a:spcAft>
                <a:spcPts val="0"/>
              </a:spcAft>
            </a:pPr>
            <a:r>
              <a:rPr sz="1400">
                <a:solidFill>
                  <a:schemeClr val="tx1"/>
                </a:solidFill>
              </a:rPr>
              <a:t>AI agents shop, fill forms and manage accounts, but they send screenshots and page data to cloud models, exposing </a:t>
            </a:r>
            <a:r>
              <a:rPr sz="1400" b="1">
                <a:solidFill>
                  <a:schemeClr val="accent1"/>
                </a:solidFill>
              </a:rPr>
              <a:t>Aadhaar, PAN, passwords, OTPs, cards and API keys</a:t>
            </a:r>
            <a:r>
              <a:rPr sz="1400">
                <a:solidFill>
                  <a:schemeClr val="tx1"/>
                </a:solidFill>
              </a:rPr>
              <a:t>. The brief has four tasks plus evaluation.</a:t>
            </a:r>
          </a:p>
        </p:txBody>
      </p:sp>
      <p:graphicFrame>
        <p:nvGraphicFramePr>
          <p:cNvPr id="6" name="anim table"/>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2798064"/>
        </p:xfrm>
        <a:graphic>
          <a:graphicData uri="http://schemas.openxmlformats.org/drawingml/2006/table">
            <a:tbl>
              <a:tblPr/>
              <a:tblGrid>
                <a:gridCol w="12801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329184">
                <a:tc>
                  <a:txBody>
                    <a:bodyPr/>
                    <a:lstStyle/>
                    <a:p>
                      <a:pPr marL="0" indent="0">
                        <a:buNone/>
                      </a:pPr>
                      <a:r>
                        <a:rPr lang="en-US" sz="1200" b="1" dirty="0">
                          <a:solidFill>
                            <a:schemeClr val="bg1"/>
                          </a:solidFill>
                        </a:rPr>
                        <a:t>Task</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The problem asks</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Our answer</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93776">
                <a:tc>
                  <a:txBody>
                    <a:bodyPr/>
                    <a:lstStyle/>
                    <a:p>
                      <a:pPr marL="0" indent="0">
                        <a:buNone/>
                      </a:pPr>
                      <a:r>
                        <a:rPr lang="en-US" sz="1200" b="1" dirty="0">
                          <a:solidFill>
                            <a:schemeClr val="tx1"/>
                          </a:solidFill>
                        </a:rPr>
                        <a:t>A  Detect</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Find Aadhaar, PAN, cards, emails, passwords, OTPs, keys, faces</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Regex + Luhn/Verhoeff, DOM and accessibility rules, OCR, NER and face detection, merged</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93776">
                <a:tc>
                  <a:txBody>
                    <a:bodyPr/>
                    <a:lstStyle/>
                    <a:p>
                      <a:pPr marL="0" indent="0">
                        <a:buNone/>
                      </a:pPr>
                      <a:r>
                        <a:rPr lang="en-US" sz="1200" b="1" dirty="0">
                          <a:solidFill>
                            <a:schemeClr val="tx1"/>
                          </a:solidFill>
                        </a:rPr>
                        <a:t>B  Sanitize</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Redact screenshots and text; originals must not be recoverable</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Solid blackout in screenshots; realistic synthetic values in text; [REDACTED:TYPE] as fail-safe fallback</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93776">
                <a:tc>
                  <a:txBody>
                    <a:bodyPr/>
                    <a:lstStyle/>
                    <a:p>
                      <a:pPr marL="0" indent="0">
                        <a:buNone/>
                      </a:pPr>
                      <a:r>
                        <a:rPr lang="en-US" sz="1200" b="1" dirty="0">
                          <a:solidFill>
                            <a:schemeClr val="tx1"/>
                          </a:solidFill>
                        </a:rPr>
                        <a:t>C  Reason</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AI acts on sanitized data; validate actions; user approval</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LLM sees synthetic values only; every action validated; real value restored locally into the approved field</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93776">
                <a:tc>
                  <a:txBody>
                    <a:bodyPr/>
                    <a:lstStyle/>
                    <a:p>
                      <a:pPr marL="0" indent="0">
                        <a:buNone/>
                      </a:pPr>
                      <a:r>
                        <a:rPr lang="en-US" sz="1200" b="1" dirty="0">
                          <a:solidFill>
                            <a:schemeClr val="tx1"/>
                          </a:solidFill>
                        </a:rPr>
                        <a:t>D  Validate</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Block unsafe outgoing data, fail closed, injection defense, preview, local mode</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Egress firewall on the full payload, injection rules, before/after X-Ray, Ollama offline mode</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93776">
                <a:tc>
                  <a:txBody>
                    <a:bodyPr/>
                    <a:lstStyle/>
                    <a:p>
                      <a:pPr marL="0" indent="0">
                        <a:buNone/>
                      </a:pPr>
                      <a:r>
                        <a:rPr lang="en-US" sz="1200" b="1" dirty="0">
                          <a:solidFill>
                            <a:schemeClr val="tx1"/>
                          </a:solidFill>
                        </a:rPr>
                        <a:t>Evaluate</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Recall, precision, leakage, context, task success, latency, security</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Annotated synthetic pages, canary values, scripts that reproduce every number</a:t>
                      </a:r>
                      <a:endParaRPr lang="en-US" sz="1200" dirty="0"/>
                    </a:p>
                  </a:txBody>
                  <a:tcPr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7" name="nav1">
            <a:hlinkClick r:id="rId3" action="ppaction://hlinksldjump" tooltip="1. Title"/>
          </p:cNvPr>
          <p:cNvSpPr/>
          <p:nvPr/>
        </p:nvSpPr>
        <p:spPr>
          <a:xfrm>
            <a:off x="3364991"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1</a:t>
            </a:r>
          </a:p>
        </p:txBody>
      </p:sp>
      <p:sp>
        <p:nvSpPr>
          <p:cNvPr id="8" name="nav2">
            <a:hlinkClick r:id="rId4" action="ppaction://hlinksldjump" tooltip="2. Problem"/>
          </p:cNvPr>
          <p:cNvSpPr/>
          <p:nvPr/>
        </p:nvSpPr>
        <p:spPr>
          <a:xfrm>
            <a:off x="3675887" y="472744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bg1"/>
                </a:solidFill>
              </a:rPr>
              <a:t>2</a:t>
            </a:r>
          </a:p>
        </p:txBody>
      </p:sp>
      <p:sp>
        <p:nvSpPr>
          <p:cNvPr id="9" name="nav3">
            <a:hlinkClick r:id="rId5" action="ppaction://hlinksldjump" tooltip="3. Idea"/>
          </p:cNvPr>
          <p:cNvSpPr/>
          <p:nvPr/>
        </p:nvSpPr>
        <p:spPr>
          <a:xfrm>
            <a:off x="3986783"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3</a:t>
            </a:r>
          </a:p>
        </p:txBody>
      </p:sp>
      <p:sp>
        <p:nvSpPr>
          <p:cNvPr id="10" name="nav4">
            <a:hlinkClick r:id="rId6" action="ppaction://hlinksldjump" tooltip="4. Architecture"/>
          </p:cNvPr>
          <p:cNvSpPr/>
          <p:nvPr/>
        </p:nvSpPr>
        <p:spPr>
          <a:xfrm>
            <a:off x="4297679"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4</a:t>
            </a:r>
          </a:p>
        </p:txBody>
      </p:sp>
      <p:sp>
        <p:nvSpPr>
          <p:cNvPr id="11" name="nav5">
            <a:hlinkClick r:id="rId7" action="ppaction://hlinksldjump" tooltip="5. Pipeline"/>
          </p:cNvPr>
          <p:cNvSpPr/>
          <p:nvPr/>
        </p:nvSpPr>
        <p:spPr>
          <a:xfrm>
            <a:off x="4608576"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5</a:t>
            </a:r>
          </a:p>
        </p:txBody>
      </p:sp>
      <p:sp>
        <p:nvSpPr>
          <p:cNvPr id="12" name="nav6">
            <a:hlinkClick r:id="rId8" action="ppaction://hlinksldjump" tooltip="6. Different"/>
          </p:cNvPr>
          <p:cNvSpPr/>
          <p:nvPr/>
        </p:nvSpPr>
        <p:spPr>
          <a:xfrm>
            <a:off x="4919472"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6</a:t>
            </a:r>
          </a:p>
        </p:txBody>
      </p:sp>
      <p:sp>
        <p:nvSpPr>
          <p:cNvPr id="13" name="nav7">
            <a:hlinkClick r:id="rId9" action="ppaction://hlinksldjump" tooltip="7. Proof"/>
          </p:cNvPr>
          <p:cNvSpPr/>
          <p:nvPr/>
        </p:nvSpPr>
        <p:spPr>
          <a:xfrm>
            <a:off x="5230368"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7</a:t>
            </a:r>
          </a:p>
        </p:txBody>
      </p:sp>
      <p:sp>
        <p:nvSpPr>
          <p:cNvPr id="14" name="nav8">
            <a:hlinkClick r:id="rId10" action="ppaction://hlinksldjump" tooltip="8. Roadmap"/>
          </p:cNvPr>
          <p:cNvSpPr/>
          <p:nvPr/>
        </p:nvSpPr>
        <p:spPr>
          <a:xfrm>
            <a:off x="5541264"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8</a:t>
            </a:r>
          </a:p>
        </p:txBody>
      </p:sp>
      <p:sp>
        <p:nvSpPr>
          <p:cNvPr id="15" name="prev">
            <a:hlinkClick r:id="rId3" action="ppaction://hlinksldjump" tooltip="Previous slide"/>
          </p:cNvPr>
          <p:cNvSpPr txBox="1"/>
          <p:nvPr/>
        </p:nvSpPr>
        <p:spPr>
          <a:xfrm>
            <a:off x="3054096" y="4700016"/>
            <a:ext cx="256032" cy="274320"/>
          </a:xfrm>
          <a:prstGeom prst="rect">
            <a:avLst/>
          </a:prstGeom>
          <a:noFill/>
        </p:spPr>
        <p:txBody>
          <a:bodyPr wrap="square" lIns="0" tIns="0" rIns="0" bIns="0" anchor="ctr">
            <a:spAutoFit/>
          </a:bodyPr>
          <a:lstStyle/>
          <a:p>
            <a:pPr algn="ctr">
              <a:spcAft>
                <a:spcPts val="0"/>
              </a:spcAft>
            </a:pPr>
            <a:r>
              <a:rPr sz="1800" b="1">
                <a:solidFill>
                  <a:schemeClr val="accent4"/>
                </a:solidFill>
              </a:rPr>
              <a:t>‹</a:t>
            </a:r>
          </a:p>
        </p:txBody>
      </p:sp>
      <p:sp>
        <p:nvSpPr>
          <p:cNvPr id="16" name="next">
            <a:hlinkClick r:id="rId5" action="ppaction://hlinksldjump" tooltip="Next slide"/>
          </p:cNvPr>
          <p:cNvSpPr txBox="1"/>
          <p:nvPr/>
        </p:nvSpPr>
        <p:spPr>
          <a:xfrm>
            <a:off x="5833872" y="4700016"/>
            <a:ext cx="256032" cy="274320"/>
          </a:xfrm>
          <a:prstGeom prst="rect">
            <a:avLst/>
          </a:prstGeom>
          <a:noFill/>
        </p:spPr>
        <p:txBody>
          <a:bodyPr wrap="square" lIns="0" tIns="0" rIns="0" bIns="0" anchor="ctr">
            <a:spAutoFit/>
          </a:bodyPr>
          <a:lstStyle/>
          <a:p>
            <a:pPr algn="ctr">
              <a:spcAft>
                <a:spcPts val="0"/>
              </a:spcAft>
            </a:pPr>
            <a:r>
              <a:rPr sz="1800" b="1">
                <a:solidFill>
                  <a:schemeClr val="accent4"/>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13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rPr>
              <a:t>Our idea: the Undercover Agent</a:t>
            </a:r>
            <a:endParaRPr lang="en-US" sz="3000" dirty="0"/>
          </a:p>
        </p:txBody>
      </p:sp>
      <p:sp>
        <p:nvSpPr>
          <p:cNvPr id="3" name="text">
            <a:hlinkClick r:id="rId3" action="ppaction://hlinksldjump" tooltip="Back to title and topics"/>
          </p:cNvPr>
          <p:cNvSpPr txBox="1"/>
          <p:nvPr/>
        </p:nvSpPr>
        <p:spPr>
          <a:xfrm>
            <a:off x="457200" y="4786884"/>
            <a:ext cx="1097280" cy="228600"/>
          </a:xfrm>
          <a:prstGeom prst="rect">
            <a:avLst/>
          </a:prstGeom>
          <a:noFill/>
          <a:ln/>
        </p:spPr>
        <p:txBody>
          <a:bodyPr wrap="square" lIns="0" tIns="0" rIns="0" bIns="0" rtlCol="0" anchor="t"/>
          <a:lstStyle/>
          <a:p>
            <a:pPr marL="0" indent="0">
              <a:buNone/>
            </a:pPr>
            <a:r>
              <a:rPr lang="en-US" sz="1000" u="sng" dirty="0">
                <a:solidFill>
                  <a:schemeClr val="accent4"/>
                </a:solidFill>
              </a:rPr>
              <a:t>⌂ Home</a:t>
            </a:r>
            <a:endParaRPr lang="en-US" sz="1000" dirty="0"/>
          </a:p>
        </p:txBody>
      </p:sp>
      <p:sp>
        <p:nvSpPr>
          <p:cNvPr id="4" name="anim panel"/>
          <p:cNvSpPr/>
          <p:nvPr/>
        </p:nvSpPr>
        <p:spPr>
          <a:xfrm>
            <a:off x="457200" y="1188720"/>
            <a:ext cx="2560320" cy="1828800"/>
          </a:xfrm>
          <a:prstGeom prst="rect">
            <a:avLst/>
          </a:prstGeom>
          <a:solidFill>
            <a:schemeClr val="bg2"/>
          </a:solidFill>
          <a:ln w="12700">
            <a:solidFill>
              <a:schemeClr val="bg1">
                <a:alpha val="0"/>
              </a:schemeClr>
            </a:solidFill>
            <a:prstDash val="solid"/>
          </a:ln>
        </p:spPr>
        <p:txBody>
          <a:bodyPr/>
          <a:lstStyle/>
          <a:p>
            <a:endParaRPr/>
          </a:p>
        </p:txBody>
      </p:sp>
      <p:sp>
        <p:nvSpPr>
          <p:cNvPr id="5" name="h"/>
          <p:cNvSpPr txBox="1"/>
          <p:nvPr/>
        </p:nvSpPr>
        <p:spPr>
          <a:xfrm>
            <a:off x="640080" y="1325880"/>
            <a:ext cx="2194560" cy="228600"/>
          </a:xfrm>
          <a:prstGeom prst="rect">
            <a:avLst/>
          </a:prstGeom>
          <a:noFill/>
          <a:ln/>
        </p:spPr>
        <p:txBody>
          <a:bodyPr wrap="square" lIns="0" tIns="0" rIns="0" bIns="0" rtlCol="0" anchor="t"/>
          <a:lstStyle/>
          <a:p>
            <a:pPr marL="0" indent="0">
              <a:buNone/>
            </a:pPr>
            <a:r>
              <a:rPr lang="en-US" sz="1100" b="1" kern="0" spc="200" dirty="0">
                <a:solidFill>
                  <a:schemeClr val="accent3"/>
                </a:solidFill>
              </a:rPr>
              <a:t>ON YOUR MACHINE</a:t>
            </a:r>
            <a:endParaRPr lang="en-US" sz="1100" dirty="0"/>
          </a:p>
        </p:txBody>
      </p:sp>
      <p:sp>
        <p:nvSpPr>
          <p:cNvPr id="6" name="v"/>
          <p:cNvSpPr txBox="1"/>
          <p:nvPr/>
        </p:nvSpPr>
        <p:spPr>
          <a:xfrm>
            <a:off x="640080" y="1691640"/>
            <a:ext cx="2194560" cy="640080"/>
          </a:xfrm>
          <a:prstGeom prst="rect">
            <a:avLst/>
          </a:prstGeom>
          <a:noFill/>
          <a:ln/>
        </p:spPr>
        <p:txBody>
          <a:bodyPr wrap="square" lIns="0" tIns="0" rIns="0" bIns="0" rtlCol="0" anchor="t"/>
          <a:lstStyle/>
          <a:p>
            <a:pPr marL="0" indent="0">
              <a:buNone/>
            </a:pPr>
            <a:r>
              <a:rPr lang="en-US" sz="1300" b="1" dirty="0">
                <a:solidFill>
                  <a:schemeClr val="accent3"/>
                </a:solidFill>
              </a:rPr>
              <a:t>john.doe@company.com</a:t>
            </a:r>
            <a:endParaRPr lang="en-US" sz="1300" dirty="0"/>
          </a:p>
        </p:txBody>
      </p:sp>
      <p:sp>
        <p:nvSpPr>
          <p:cNvPr id="7" name="d"/>
          <p:cNvSpPr txBox="1"/>
          <p:nvPr/>
        </p:nvSpPr>
        <p:spPr>
          <a:xfrm>
            <a:off x="640080" y="2423160"/>
            <a:ext cx="2194560" cy="548640"/>
          </a:xfrm>
          <a:prstGeom prst="rect">
            <a:avLst/>
          </a:prstGeom>
          <a:noFill/>
          <a:ln/>
        </p:spPr>
        <p:txBody>
          <a:bodyPr wrap="square" lIns="0" tIns="0" rIns="0" bIns="0" rtlCol="0" anchor="t"/>
          <a:lstStyle/>
          <a:p>
            <a:pPr marL="0" indent="0">
              <a:buNone/>
            </a:pPr>
            <a:r>
              <a:rPr lang="en-US" sz="1200" dirty="0">
                <a:solidFill>
                  <a:schemeClr val="accent4"/>
                </a:solidFill>
              </a:rPr>
              <a:t>The real value stays in the browser.</a:t>
            </a:r>
            <a:endParaRPr lang="en-US" sz="1200" dirty="0"/>
          </a:p>
        </p:txBody>
      </p:sp>
      <p:sp>
        <p:nvSpPr>
          <p:cNvPr id="8" name="anim panel"/>
          <p:cNvSpPr/>
          <p:nvPr/>
        </p:nvSpPr>
        <p:spPr>
          <a:xfrm>
            <a:off x="3291840" y="1188720"/>
            <a:ext cx="2560320" cy="1828800"/>
          </a:xfrm>
          <a:prstGeom prst="rect">
            <a:avLst/>
          </a:prstGeom>
          <a:solidFill>
            <a:schemeClr val="bg2"/>
          </a:solidFill>
          <a:ln w="12700">
            <a:solidFill>
              <a:schemeClr val="bg1">
                <a:alpha val="0"/>
              </a:schemeClr>
            </a:solidFill>
            <a:prstDash val="solid"/>
          </a:ln>
        </p:spPr>
        <p:txBody>
          <a:bodyPr/>
          <a:lstStyle/>
          <a:p>
            <a:endParaRPr/>
          </a:p>
        </p:txBody>
      </p:sp>
      <p:sp>
        <p:nvSpPr>
          <p:cNvPr id="9" name="h"/>
          <p:cNvSpPr txBox="1"/>
          <p:nvPr/>
        </p:nvSpPr>
        <p:spPr>
          <a:xfrm>
            <a:off x="3474720" y="1325880"/>
            <a:ext cx="2194560" cy="228600"/>
          </a:xfrm>
          <a:prstGeom prst="rect">
            <a:avLst/>
          </a:prstGeom>
          <a:noFill/>
          <a:ln/>
        </p:spPr>
        <p:txBody>
          <a:bodyPr wrap="square" lIns="0" tIns="0" rIns="0" bIns="0" rtlCol="0" anchor="t"/>
          <a:lstStyle/>
          <a:p>
            <a:pPr marL="0" indent="0">
              <a:buNone/>
            </a:pPr>
            <a:r>
              <a:rPr lang="en-US" sz="1100" b="1" kern="0" spc="200" dirty="0">
                <a:solidFill>
                  <a:schemeClr val="accent2"/>
                </a:solidFill>
              </a:rPr>
              <a:t>SENT TO THE LLM</a:t>
            </a:r>
            <a:endParaRPr lang="en-US" sz="1100" dirty="0"/>
          </a:p>
        </p:txBody>
      </p:sp>
      <p:sp>
        <p:nvSpPr>
          <p:cNvPr id="10" name="v"/>
          <p:cNvSpPr txBox="1"/>
          <p:nvPr/>
        </p:nvSpPr>
        <p:spPr>
          <a:xfrm>
            <a:off x="3474720" y="1691640"/>
            <a:ext cx="2194560" cy="640080"/>
          </a:xfrm>
          <a:prstGeom prst="rect">
            <a:avLst/>
          </a:prstGeom>
          <a:noFill/>
          <a:ln/>
        </p:spPr>
        <p:txBody>
          <a:bodyPr wrap="square" lIns="0" tIns="0" rIns="0" bIns="0" rtlCol="0" anchor="t"/>
          <a:lstStyle/>
          <a:p>
            <a:pPr marL="0" indent="0">
              <a:buNone/>
            </a:pPr>
            <a:r>
              <a:rPr lang="en-US" sz="1300" b="1" dirty="0">
                <a:solidFill>
                  <a:schemeClr val="accent2"/>
                </a:solidFill>
              </a:rPr>
              <a:t>alex.smith_482@example.com</a:t>
            </a:r>
            <a:endParaRPr lang="en-US" sz="1300" dirty="0"/>
          </a:p>
        </p:txBody>
      </p:sp>
      <p:sp>
        <p:nvSpPr>
          <p:cNvPr id="11" name="d"/>
          <p:cNvSpPr txBox="1"/>
          <p:nvPr/>
        </p:nvSpPr>
        <p:spPr>
          <a:xfrm>
            <a:off x="3474720" y="2423160"/>
            <a:ext cx="2194560" cy="548640"/>
          </a:xfrm>
          <a:prstGeom prst="rect">
            <a:avLst/>
          </a:prstGeom>
          <a:noFill/>
          <a:ln/>
        </p:spPr>
        <p:txBody>
          <a:bodyPr wrap="square" lIns="0" tIns="0" rIns="0" bIns="0" rtlCol="0" anchor="t"/>
          <a:lstStyle/>
          <a:p>
            <a:pPr marL="0" indent="0">
              <a:buNone/>
            </a:pPr>
            <a:r>
              <a:rPr lang="en-US" sz="1200" dirty="0">
                <a:solidFill>
                  <a:schemeClr val="accent4"/>
                </a:solidFill>
              </a:rPr>
              <a:t>A realistic synthetic identity. The page still makes sense.</a:t>
            </a:r>
            <a:endParaRPr lang="en-US" sz="1200" dirty="0"/>
          </a:p>
        </p:txBody>
      </p:sp>
      <p:sp>
        <p:nvSpPr>
          <p:cNvPr id="12" name="anim panel"/>
          <p:cNvSpPr/>
          <p:nvPr/>
        </p:nvSpPr>
        <p:spPr>
          <a:xfrm>
            <a:off x="6126480" y="1188720"/>
            <a:ext cx="2560320" cy="1828800"/>
          </a:xfrm>
          <a:prstGeom prst="rect">
            <a:avLst/>
          </a:prstGeom>
          <a:solidFill>
            <a:schemeClr val="bg2"/>
          </a:solidFill>
          <a:ln w="12700">
            <a:solidFill>
              <a:schemeClr val="bg1">
                <a:alpha val="0"/>
              </a:schemeClr>
            </a:solidFill>
            <a:prstDash val="solid"/>
          </a:ln>
        </p:spPr>
        <p:txBody>
          <a:bodyPr/>
          <a:lstStyle/>
          <a:p>
            <a:endParaRPr/>
          </a:p>
        </p:txBody>
      </p:sp>
      <p:sp>
        <p:nvSpPr>
          <p:cNvPr id="13" name="h"/>
          <p:cNvSpPr txBox="1"/>
          <p:nvPr/>
        </p:nvSpPr>
        <p:spPr>
          <a:xfrm>
            <a:off x="6309360" y="1325880"/>
            <a:ext cx="2194560" cy="228600"/>
          </a:xfrm>
          <a:prstGeom prst="rect">
            <a:avLst/>
          </a:prstGeom>
          <a:noFill/>
          <a:ln/>
        </p:spPr>
        <p:txBody>
          <a:bodyPr wrap="square" lIns="0" tIns="0" rIns="0" bIns="0" rtlCol="0" anchor="t"/>
          <a:lstStyle/>
          <a:p>
            <a:pPr marL="0" indent="0">
              <a:buNone/>
            </a:pPr>
            <a:r>
              <a:rPr lang="en-US" sz="1100" b="1" kern="0" spc="200" dirty="0">
                <a:solidFill>
                  <a:schemeClr val="accent3"/>
                </a:solidFill>
              </a:rPr>
              <a:t>BACK ON YOUR MACHINE</a:t>
            </a:r>
            <a:endParaRPr lang="en-US" sz="1100" dirty="0"/>
          </a:p>
        </p:txBody>
      </p:sp>
      <p:sp>
        <p:nvSpPr>
          <p:cNvPr id="14" name="v"/>
          <p:cNvSpPr txBox="1"/>
          <p:nvPr/>
        </p:nvSpPr>
        <p:spPr>
          <a:xfrm>
            <a:off x="6309360" y="1691640"/>
            <a:ext cx="2194560" cy="640080"/>
          </a:xfrm>
          <a:prstGeom prst="rect">
            <a:avLst/>
          </a:prstGeom>
          <a:noFill/>
          <a:ln/>
        </p:spPr>
        <p:txBody>
          <a:bodyPr wrap="square" lIns="0" tIns="0" rIns="0" bIns="0" rtlCol="0" anchor="t"/>
          <a:lstStyle/>
          <a:p>
            <a:pPr marL="0" indent="0">
              <a:buNone/>
            </a:pPr>
            <a:r>
              <a:rPr lang="en-US" sz="1300" b="1" dirty="0">
                <a:solidFill>
                  <a:schemeClr val="accent3"/>
                </a:solidFill>
              </a:rPr>
              <a:t>john.doe@company.com</a:t>
            </a:r>
            <a:endParaRPr lang="en-US" sz="1300" dirty="0"/>
          </a:p>
        </p:txBody>
      </p:sp>
      <p:sp>
        <p:nvSpPr>
          <p:cNvPr id="15" name="d"/>
          <p:cNvSpPr txBox="1"/>
          <p:nvPr/>
        </p:nvSpPr>
        <p:spPr>
          <a:xfrm>
            <a:off x="6309360" y="2423160"/>
            <a:ext cx="2194560" cy="548640"/>
          </a:xfrm>
          <a:prstGeom prst="rect">
            <a:avLst/>
          </a:prstGeom>
          <a:noFill/>
          <a:ln/>
        </p:spPr>
        <p:txBody>
          <a:bodyPr wrap="square" lIns="0" tIns="0" rIns="0" bIns="0" rtlCol="0" anchor="t"/>
          <a:lstStyle/>
          <a:p>
            <a:pPr marL="0" indent="0">
              <a:buNone/>
            </a:pPr>
            <a:r>
              <a:rPr lang="en-US" sz="1200" dirty="0">
                <a:solidFill>
                  <a:schemeClr val="accent4"/>
                </a:solidFill>
              </a:rPr>
              <a:t>The executor types the real value into the approved field only.</a:t>
            </a:r>
            <a:endParaRPr lang="en-US" sz="1200" dirty="0"/>
          </a:p>
        </p:txBody>
      </p:sp>
      <p:sp>
        <p:nvSpPr>
          <p:cNvPr id="16" name="animarr"/>
          <p:cNvSpPr/>
          <p:nvPr/>
        </p:nvSpPr>
        <p:spPr>
          <a:xfrm>
            <a:off x="3017520" y="1965960"/>
            <a:ext cx="274320" cy="274320"/>
          </a:xfrm>
          <a:prstGeom prst="rightArrow">
            <a:avLst/>
          </a:prstGeom>
          <a:solidFill>
            <a:schemeClr val="tx1"/>
          </a:solidFill>
          <a:ln w="12700">
            <a:solidFill>
              <a:schemeClr val="tx1"/>
            </a:solidFill>
            <a:prstDash val="solid"/>
          </a:ln>
        </p:spPr>
        <p:txBody>
          <a:bodyPr/>
          <a:lstStyle/>
          <a:p>
            <a:endParaRPr/>
          </a:p>
        </p:txBody>
      </p:sp>
      <p:sp>
        <p:nvSpPr>
          <p:cNvPr id="17" name="animarr"/>
          <p:cNvSpPr/>
          <p:nvPr/>
        </p:nvSpPr>
        <p:spPr>
          <a:xfrm>
            <a:off x="5852160" y="1965960"/>
            <a:ext cx="274320" cy="274320"/>
          </a:xfrm>
          <a:prstGeom prst="rightArrow">
            <a:avLst/>
          </a:prstGeom>
          <a:solidFill>
            <a:schemeClr val="tx1"/>
          </a:solidFill>
          <a:ln w="12700">
            <a:solidFill>
              <a:schemeClr val="tx1"/>
            </a:solidFill>
            <a:prstDash val="solid"/>
          </a:ln>
        </p:spPr>
        <p:txBody>
          <a:bodyPr/>
          <a:lstStyle/>
          <a:p>
            <a:endParaRPr/>
          </a:p>
        </p:txBody>
      </p:sp>
      <p:sp>
        <p:nvSpPr>
          <p:cNvPr id="18" name="anim"/>
          <p:cNvSpPr txBox="1"/>
          <p:nvPr/>
        </p:nvSpPr>
        <p:spPr>
          <a:xfrm>
            <a:off x="457200" y="3291840"/>
            <a:ext cx="3931920" cy="320040"/>
          </a:xfrm>
          <a:prstGeom prst="rect">
            <a:avLst/>
          </a:prstGeom>
          <a:noFill/>
          <a:ln/>
        </p:spPr>
        <p:txBody>
          <a:bodyPr wrap="square" lIns="0" tIns="0" rIns="0" bIns="0" rtlCol="0" anchor="t"/>
          <a:lstStyle/>
          <a:p>
            <a:pPr marL="0" indent="0">
              <a:buNone/>
            </a:pPr>
            <a:r>
              <a:rPr lang="en-US" sz="1600" b="1" dirty="0">
                <a:solidFill>
                  <a:schemeClr val="tx1"/>
                </a:solidFill>
                <a:latin typeface="+mj-lt" pitchFamily="34" charset="0"/>
                <a:ea typeface="+mj-lt" pitchFamily="34" charset="-122"/>
                <a:cs typeface="+mj-lt" pitchFamily="34" charset="-120"/>
              </a:rPr>
              <a:t>Why not just redact?</a:t>
            </a:r>
            <a:endParaRPr lang="en-US" sz="1600" dirty="0"/>
          </a:p>
        </p:txBody>
      </p:sp>
      <p:sp>
        <p:nvSpPr>
          <p:cNvPr id="19" name="anim"/>
          <p:cNvSpPr txBox="1"/>
          <p:nvPr/>
        </p:nvSpPr>
        <p:spPr>
          <a:xfrm>
            <a:off x="457200" y="3657600"/>
            <a:ext cx="3931920" cy="914400"/>
          </a:xfrm>
          <a:prstGeom prst="rect">
            <a:avLst/>
          </a:prstGeom>
          <a:noFill/>
          <a:ln/>
        </p:spPr>
        <p:txBody>
          <a:bodyPr wrap="square" lIns="0" tIns="0" rIns="0" bIns="0" rtlCol="0" anchor="t"/>
          <a:lstStyle/>
          <a:p>
            <a:pPr marL="0" indent="0">
              <a:buNone/>
            </a:pPr>
            <a:r>
              <a:rPr lang="en-US" sz="1300" dirty="0">
                <a:solidFill>
                  <a:schemeClr val="accent4"/>
                </a:solidFill>
              </a:rPr>
              <a:t>A tag like [REDACTED:EMAIL] strips meaning; the agent cannot tell what the field expects. A synthetic email keeps format and context, while the real value never leaves the trusted side.</a:t>
            </a:r>
            <a:endParaRPr lang="en-US" sz="1300" dirty="0"/>
          </a:p>
        </p:txBody>
      </p:sp>
      <p:sp>
        <p:nvSpPr>
          <p:cNvPr id="20" name="anim"/>
          <p:cNvSpPr txBox="1"/>
          <p:nvPr/>
        </p:nvSpPr>
        <p:spPr>
          <a:xfrm>
            <a:off x="4754880" y="3291840"/>
            <a:ext cx="3931920" cy="320040"/>
          </a:xfrm>
          <a:prstGeom prst="rect">
            <a:avLst/>
          </a:prstGeom>
          <a:noFill/>
          <a:ln/>
        </p:spPr>
        <p:txBody>
          <a:bodyPr wrap="square" lIns="0" tIns="0" rIns="0" bIns="0" rtlCol="0" anchor="t"/>
          <a:lstStyle/>
          <a:p>
            <a:pPr marL="0" indent="0">
              <a:buNone/>
            </a:pPr>
            <a:r>
              <a:rPr lang="en-US" sz="1600" b="1" dirty="0">
                <a:solidFill>
                  <a:schemeClr val="tx1"/>
                </a:solidFill>
                <a:latin typeface="+mj-lt" pitchFamily="34" charset="0"/>
                <a:ea typeface="+mj-lt" pitchFamily="34" charset="-122"/>
                <a:cs typeface="+mj-lt" pitchFamily="34" charset="-120"/>
              </a:rPr>
              <a:t>Three rules</a:t>
            </a:r>
            <a:endParaRPr lang="en-US" sz="1600" dirty="0"/>
          </a:p>
        </p:txBody>
      </p:sp>
      <p:sp>
        <p:nvSpPr>
          <p:cNvPr id="21" name="anim"/>
          <p:cNvSpPr txBox="1"/>
          <p:nvPr/>
        </p:nvSpPr>
        <p:spPr>
          <a:xfrm>
            <a:off x="4754880" y="3657600"/>
            <a:ext cx="3931920" cy="91440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chemeClr val="tx1"/>
                </a:solidFill>
              </a:rPr>
              <a:t>Compute what is sensitive locally.</a:t>
            </a:r>
            <a:endParaRPr lang="en-US" sz="1300" dirty="0"/>
          </a:p>
          <a:p>
            <a:pPr marL="342900" indent="-342900">
              <a:spcAft>
                <a:spcPts val="500"/>
              </a:spcAft>
              <a:buSzPct val="100000"/>
              <a:buFont typeface="+mj-lt"/>
              <a:buAutoNum type="arabicPeriod"/>
            </a:pPr>
            <a:r>
              <a:rPr lang="en-US" sz="1300" dirty="0">
                <a:solidFill>
                  <a:schemeClr val="tx1"/>
                </a:solidFill>
              </a:rPr>
              <a:t>Reason only on synthetic data.</a:t>
            </a:r>
            <a:endParaRPr lang="en-US" sz="1300" dirty="0"/>
          </a:p>
          <a:p>
            <a:pPr marL="342900" indent="-342900">
              <a:spcAft>
                <a:spcPts val="500"/>
              </a:spcAft>
              <a:buSzPct val="100000"/>
              <a:buFont typeface="+mj-lt"/>
              <a:buAutoNum type="arabicPeriod"/>
            </a:pPr>
            <a:r>
              <a:rPr lang="en-US" sz="1300" dirty="0">
                <a:solidFill>
                  <a:schemeClr val="tx1"/>
                </a:solidFill>
              </a:rPr>
              <a:t>Restore the original only at the executor, only when authorized.</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a:t>
            </a:fld>
            <a:endParaRPr lang="en-US"/>
          </a:p>
        </p:txBody>
      </p:sp>
      <p:sp>
        <p:nvSpPr>
          <p:cNvPr id="32" name="nav1">
            <a:hlinkClick r:id="rId3" action="ppaction://hlinksldjump" tooltip="1. Title"/>
          </p:cNvPr>
          <p:cNvSpPr/>
          <p:nvPr/>
        </p:nvSpPr>
        <p:spPr>
          <a:xfrm>
            <a:off x="3364991"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1</a:t>
            </a:r>
          </a:p>
        </p:txBody>
      </p:sp>
      <p:sp>
        <p:nvSpPr>
          <p:cNvPr id="33" name="nav2">
            <a:hlinkClick r:id="rId4" action="ppaction://hlinksldjump" tooltip="2. Problem"/>
          </p:cNvPr>
          <p:cNvSpPr/>
          <p:nvPr/>
        </p:nvSpPr>
        <p:spPr>
          <a:xfrm>
            <a:off x="3675887"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2</a:t>
            </a:r>
          </a:p>
        </p:txBody>
      </p:sp>
      <p:sp>
        <p:nvSpPr>
          <p:cNvPr id="34" name="nav3">
            <a:hlinkClick r:id="rId5" action="ppaction://hlinksldjump" tooltip="3. Idea"/>
          </p:cNvPr>
          <p:cNvSpPr/>
          <p:nvPr/>
        </p:nvSpPr>
        <p:spPr>
          <a:xfrm>
            <a:off x="3986783" y="472744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bg1"/>
                </a:solidFill>
              </a:rPr>
              <a:t>3</a:t>
            </a:r>
          </a:p>
        </p:txBody>
      </p:sp>
      <p:sp>
        <p:nvSpPr>
          <p:cNvPr id="35" name="nav4">
            <a:hlinkClick r:id="rId6" action="ppaction://hlinksldjump" tooltip="4. Architecture"/>
          </p:cNvPr>
          <p:cNvSpPr/>
          <p:nvPr/>
        </p:nvSpPr>
        <p:spPr>
          <a:xfrm>
            <a:off x="4297679"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4</a:t>
            </a:r>
          </a:p>
        </p:txBody>
      </p:sp>
      <p:sp>
        <p:nvSpPr>
          <p:cNvPr id="36" name="nav5">
            <a:hlinkClick r:id="rId7" action="ppaction://hlinksldjump" tooltip="5. Pipeline"/>
          </p:cNvPr>
          <p:cNvSpPr/>
          <p:nvPr/>
        </p:nvSpPr>
        <p:spPr>
          <a:xfrm>
            <a:off x="4608576"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5</a:t>
            </a:r>
          </a:p>
        </p:txBody>
      </p:sp>
      <p:sp>
        <p:nvSpPr>
          <p:cNvPr id="37" name="nav6">
            <a:hlinkClick r:id="rId8" action="ppaction://hlinksldjump" tooltip="6. Different"/>
          </p:cNvPr>
          <p:cNvSpPr/>
          <p:nvPr/>
        </p:nvSpPr>
        <p:spPr>
          <a:xfrm>
            <a:off x="4919472"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6</a:t>
            </a:r>
          </a:p>
        </p:txBody>
      </p:sp>
      <p:sp>
        <p:nvSpPr>
          <p:cNvPr id="38" name="nav7">
            <a:hlinkClick r:id="rId9" action="ppaction://hlinksldjump" tooltip="7. Proof"/>
          </p:cNvPr>
          <p:cNvSpPr/>
          <p:nvPr/>
        </p:nvSpPr>
        <p:spPr>
          <a:xfrm>
            <a:off x="5230368"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7</a:t>
            </a:r>
          </a:p>
        </p:txBody>
      </p:sp>
      <p:sp>
        <p:nvSpPr>
          <p:cNvPr id="39" name="nav8">
            <a:hlinkClick r:id="rId10" action="ppaction://hlinksldjump" tooltip="8. Roadmap"/>
          </p:cNvPr>
          <p:cNvSpPr/>
          <p:nvPr/>
        </p:nvSpPr>
        <p:spPr>
          <a:xfrm>
            <a:off x="5541264"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8</a:t>
            </a:r>
          </a:p>
        </p:txBody>
      </p:sp>
      <p:sp>
        <p:nvSpPr>
          <p:cNvPr id="40" name="prev">
            <a:hlinkClick r:id="rId4" action="ppaction://hlinksldjump" tooltip="Previous slide"/>
          </p:cNvPr>
          <p:cNvSpPr txBox="1"/>
          <p:nvPr/>
        </p:nvSpPr>
        <p:spPr>
          <a:xfrm>
            <a:off x="3054096" y="4700016"/>
            <a:ext cx="256032" cy="274320"/>
          </a:xfrm>
          <a:prstGeom prst="rect">
            <a:avLst/>
          </a:prstGeom>
          <a:noFill/>
        </p:spPr>
        <p:txBody>
          <a:bodyPr wrap="square" lIns="0" tIns="0" rIns="0" bIns="0" anchor="ctr">
            <a:spAutoFit/>
          </a:bodyPr>
          <a:lstStyle/>
          <a:p>
            <a:pPr algn="ctr">
              <a:spcAft>
                <a:spcPts val="0"/>
              </a:spcAft>
            </a:pPr>
            <a:r>
              <a:rPr sz="1800" b="1">
                <a:solidFill>
                  <a:schemeClr val="accent4"/>
                </a:solidFill>
              </a:rPr>
              <a:t>‹</a:t>
            </a:r>
          </a:p>
        </p:txBody>
      </p:sp>
      <p:sp>
        <p:nvSpPr>
          <p:cNvPr id="41" name="next">
            <a:hlinkClick r:id="rId6" action="ppaction://hlinksldjump" tooltip="Next slide"/>
          </p:cNvPr>
          <p:cNvSpPr txBox="1"/>
          <p:nvPr/>
        </p:nvSpPr>
        <p:spPr>
          <a:xfrm>
            <a:off x="5833872" y="4700016"/>
            <a:ext cx="256032" cy="274320"/>
          </a:xfrm>
          <a:prstGeom prst="rect">
            <a:avLst/>
          </a:prstGeom>
          <a:noFill/>
        </p:spPr>
        <p:txBody>
          <a:bodyPr wrap="square" lIns="0" tIns="0" rIns="0" bIns="0" anchor="ctr">
            <a:spAutoFit/>
          </a:bodyPr>
          <a:lstStyle/>
          <a:p>
            <a:pPr algn="ctr">
              <a:spcAft>
                <a:spcPts val="0"/>
              </a:spcAft>
            </a:pPr>
            <a:r>
              <a:rPr sz="1800" b="1">
                <a:solidFill>
                  <a:schemeClr val="accent4"/>
                </a:solidFill>
              </a:rPr>
              <a:t>›</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12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24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22" presetClass="entr" presetSubtype="8" fill="hold" nodeType="withEffect">
                                  <p:stCondLst>
                                    <p:cond delay="36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par>
                                <p:cTn id="17" presetID="22" presetClass="entr" presetSubtype="8" fill="hold" nodeType="withEffect">
                                  <p:stCondLst>
                                    <p:cond delay="48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par>
                                <p:cTn id="20" presetID="10" presetClass="entr" presetSubtype="0" fill="hold" nodeType="withEffect">
                                  <p:stCondLst>
                                    <p:cond delay="6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nodeType="withEffect">
                                  <p:stCondLst>
                                    <p:cond delay="72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nodeType="withEffect">
                                  <p:stCondLst>
                                    <p:cond delay="84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nodeType="withEffect">
                                  <p:stCondLst>
                                    <p:cond delay="96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rPr>
              <a:t>Architecture: one trusted gateway</a:t>
            </a:r>
            <a:endParaRPr lang="en-US" sz="3000" dirty="0"/>
          </a:p>
        </p:txBody>
      </p:sp>
      <p:sp>
        <p:nvSpPr>
          <p:cNvPr id="3" name="text">
            <a:hlinkClick r:id="rId3" action="ppaction://hlinksldjump" tooltip="Back to title and topics"/>
          </p:cNvPr>
          <p:cNvSpPr txBox="1"/>
          <p:nvPr/>
        </p:nvSpPr>
        <p:spPr>
          <a:xfrm>
            <a:off x="457200" y="4786884"/>
            <a:ext cx="1097280" cy="228600"/>
          </a:xfrm>
          <a:prstGeom prst="rect">
            <a:avLst/>
          </a:prstGeom>
          <a:noFill/>
          <a:ln/>
        </p:spPr>
        <p:txBody>
          <a:bodyPr wrap="square" lIns="0" tIns="0" rIns="0" bIns="0" rtlCol="0" anchor="t"/>
          <a:lstStyle/>
          <a:p>
            <a:pPr marL="0" indent="0">
              <a:buNone/>
            </a:pPr>
            <a:r>
              <a:rPr lang="en-US" sz="1000" u="sng" dirty="0">
                <a:solidFill>
                  <a:schemeClr val="accent4"/>
                </a:solidFill>
              </a:rPr>
              <a:t>⌂ Home</a:t>
            </a:r>
            <a:endParaRPr lang="en-US" sz="1000" dirty="0"/>
          </a:p>
        </p:txBody>
      </p:sp>
      <p:sp>
        <p:nvSpPr>
          <p:cNvPr id="4" name="zone"/>
          <p:cNvSpPr/>
          <p:nvPr/>
        </p:nvSpPr>
        <p:spPr>
          <a:xfrm>
            <a:off x="320040" y="1143000"/>
            <a:ext cx="7086600" cy="3246120"/>
          </a:xfrm>
          <a:prstGeom prst="rect">
            <a:avLst/>
          </a:prstGeom>
          <a:solidFill>
            <a:schemeClr val="accent2">
              <a:alpha val="10000"/>
            </a:schemeClr>
          </a:solidFill>
          <a:ln w="19050">
            <a:solidFill>
              <a:schemeClr val="accent2"/>
            </a:solidFill>
            <a:prstDash val="solid"/>
          </a:ln>
        </p:spPr>
        <p:txBody>
          <a:bodyPr/>
          <a:lstStyle/>
          <a:p>
            <a:endParaRPr/>
          </a:p>
        </p:txBody>
      </p:sp>
      <p:sp>
        <p:nvSpPr>
          <p:cNvPr id="5" name="zl"/>
          <p:cNvSpPr txBox="1"/>
          <p:nvPr/>
        </p:nvSpPr>
        <p:spPr>
          <a:xfrm>
            <a:off x="457200" y="1207008"/>
            <a:ext cx="2743200" cy="228600"/>
          </a:xfrm>
          <a:prstGeom prst="rect">
            <a:avLst/>
          </a:prstGeom>
          <a:noFill/>
          <a:ln/>
        </p:spPr>
        <p:txBody>
          <a:bodyPr wrap="square" lIns="0" tIns="0" rIns="0" bIns="0" rtlCol="0" anchor="t"/>
          <a:lstStyle/>
          <a:p>
            <a:pPr marL="0" indent="0">
              <a:buNone/>
            </a:pPr>
            <a:r>
              <a:rPr lang="en-US" sz="1000" b="1" kern="0" spc="100" dirty="0">
                <a:solidFill>
                  <a:schemeClr val="accent2"/>
                </a:solidFill>
              </a:rPr>
              <a:t>TRUSTED · YOUR MACHINE</a:t>
            </a:r>
            <a:endParaRPr lang="en-US" sz="1000" dirty="0"/>
          </a:p>
        </p:txBody>
      </p:sp>
      <p:sp>
        <p:nvSpPr>
          <p:cNvPr id="6" name="zone2"/>
          <p:cNvSpPr/>
          <p:nvPr/>
        </p:nvSpPr>
        <p:spPr>
          <a:xfrm>
            <a:off x="7589520" y="1143000"/>
            <a:ext cx="1280160" cy="3246120"/>
          </a:xfrm>
          <a:prstGeom prst="rect">
            <a:avLst/>
          </a:prstGeom>
          <a:solidFill>
            <a:schemeClr val="accent3">
              <a:alpha val="8000"/>
            </a:schemeClr>
          </a:solidFill>
          <a:ln w="19050">
            <a:solidFill>
              <a:schemeClr val="accent3"/>
            </a:solidFill>
            <a:prstDash val="dash"/>
          </a:ln>
        </p:spPr>
        <p:txBody>
          <a:bodyPr/>
          <a:lstStyle/>
          <a:p>
            <a:endParaRPr/>
          </a:p>
        </p:txBody>
      </p:sp>
      <p:sp>
        <p:nvSpPr>
          <p:cNvPr id="7" name="zl2"/>
          <p:cNvSpPr txBox="1"/>
          <p:nvPr/>
        </p:nvSpPr>
        <p:spPr>
          <a:xfrm>
            <a:off x="7589520" y="1188720"/>
            <a:ext cx="1280160" cy="320040"/>
          </a:xfrm>
          <a:prstGeom prst="rect">
            <a:avLst/>
          </a:prstGeom>
          <a:noFill/>
          <a:ln/>
        </p:spPr>
        <p:txBody>
          <a:bodyPr wrap="square" lIns="0" tIns="0" rIns="0" bIns="0" rtlCol="0" anchor="t"/>
          <a:lstStyle/>
          <a:p>
            <a:pPr marL="0" indent="0" algn="ctr">
              <a:buNone/>
            </a:pPr>
            <a:r>
              <a:rPr lang="en-US" sz="1000" b="1" dirty="0">
                <a:solidFill>
                  <a:schemeClr val="accent3"/>
                </a:solidFill>
              </a:rPr>
              <a:t>UNTRUSTED</a:t>
            </a:r>
            <a:endParaRPr lang="en-US" sz="1000" dirty="0"/>
          </a:p>
          <a:p>
            <a:pPr marL="0" indent="0" algn="ctr">
              <a:buNone/>
            </a:pPr>
            <a:r>
              <a:rPr lang="en-US" sz="1000" b="1" dirty="0">
                <a:solidFill>
                  <a:schemeClr val="accent3"/>
                </a:solidFill>
              </a:rPr>
              <a:t>CLOUD</a:t>
            </a:r>
            <a:endParaRPr lang="en-US" sz="1000" dirty="0"/>
          </a:p>
        </p:txBody>
      </p:sp>
      <p:sp>
        <p:nvSpPr>
          <p:cNvPr id="8" name="mod"/>
          <p:cNvSpPr/>
          <p:nvPr/>
        </p:nvSpPr>
        <p:spPr>
          <a:xfrm>
            <a:off x="457200" y="1508760"/>
            <a:ext cx="1371600" cy="777240"/>
          </a:xfrm>
          <a:prstGeom prst="roundRect">
            <a:avLst>
              <a:gd name="adj" fmla="val 9412"/>
            </a:avLst>
          </a:prstGeom>
          <a:solidFill>
            <a:schemeClr val="tx1"/>
          </a:solidFill>
          <a:ln w="12700">
            <a:solidFill>
              <a:schemeClr val="bg1">
                <a:alpha val="0"/>
              </a:schemeClr>
            </a:solidFill>
            <a:prstDash val="solid"/>
          </a:ln>
        </p:spPr>
        <p:txBody>
          <a:bodyPr/>
          <a:lstStyle/>
          <a:p>
            <a:endParaRPr/>
          </a:p>
        </p:txBody>
      </p:sp>
      <p:sp>
        <p:nvSpPr>
          <p:cNvPr id="9" name="p"/>
          <p:cNvSpPr txBox="1"/>
          <p:nvPr/>
        </p:nvSpPr>
        <p:spPr>
          <a:xfrm>
            <a:off x="548640" y="1572768"/>
            <a:ext cx="1188720" cy="182880"/>
          </a:xfrm>
          <a:prstGeom prst="rect">
            <a:avLst/>
          </a:prstGeom>
          <a:noFill/>
          <a:ln/>
        </p:spPr>
        <p:txBody>
          <a:bodyPr wrap="square" lIns="0" tIns="0" rIns="0" bIns="0" rtlCol="0" anchor="t"/>
          <a:lstStyle/>
          <a:p>
            <a:pPr marL="0" indent="0">
              <a:buNone/>
            </a:pPr>
            <a:r>
              <a:rPr lang="en-US" sz="900" b="1" dirty="0">
                <a:solidFill>
                  <a:schemeClr val="accent6"/>
                </a:solidFill>
              </a:rPr>
              <a:t>P1</a:t>
            </a:r>
            <a:endParaRPr lang="en-US" sz="900" dirty="0"/>
          </a:p>
        </p:txBody>
      </p:sp>
      <p:sp>
        <p:nvSpPr>
          <p:cNvPr id="10" name="t"/>
          <p:cNvSpPr txBox="1"/>
          <p:nvPr/>
        </p:nvSpPr>
        <p:spPr>
          <a:xfrm>
            <a:off x="548640" y="1755648"/>
            <a:ext cx="1207008" cy="502920"/>
          </a:xfrm>
          <a:prstGeom prst="rect">
            <a:avLst/>
          </a:prstGeom>
          <a:noFill/>
          <a:ln/>
        </p:spPr>
        <p:txBody>
          <a:bodyPr wrap="square" lIns="0" tIns="0" rIns="0" bIns="0" rtlCol="0" anchor="ctr"/>
          <a:lstStyle/>
          <a:p>
            <a:pPr marL="0" indent="0">
              <a:buNone/>
            </a:pPr>
            <a:r>
              <a:rPr lang="en-US" sz="1200" b="1" dirty="0">
                <a:solidFill>
                  <a:schemeClr val="bg1"/>
                </a:solidFill>
              </a:rPr>
              <a:t>1  Browser &amp; Snapshot</a:t>
            </a:r>
            <a:endParaRPr lang="en-US" sz="1200" dirty="0"/>
          </a:p>
        </p:txBody>
      </p:sp>
      <p:sp>
        <p:nvSpPr>
          <p:cNvPr id="11" name="mod"/>
          <p:cNvSpPr/>
          <p:nvPr/>
        </p:nvSpPr>
        <p:spPr>
          <a:xfrm>
            <a:off x="2103120" y="1508760"/>
            <a:ext cx="1371600" cy="777240"/>
          </a:xfrm>
          <a:prstGeom prst="roundRect">
            <a:avLst>
              <a:gd name="adj" fmla="val 9412"/>
            </a:avLst>
          </a:prstGeom>
          <a:solidFill>
            <a:schemeClr val="tx1"/>
          </a:solidFill>
          <a:ln w="12700">
            <a:solidFill>
              <a:schemeClr val="bg1">
                <a:alpha val="0"/>
              </a:schemeClr>
            </a:solidFill>
            <a:prstDash val="solid"/>
          </a:ln>
        </p:spPr>
        <p:txBody>
          <a:bodyPr/>
          <a:lstStyle/>
          <a:p>
            <a:endParaRPr/>
          </a:p>
        </p:txBody>
      </p:sp>
      <p:sp>
        <p:nvSpPr>
          <p:cNvPr id="12" name="p"/>
          <p:cNvSpPr txBox="1"/>
          <p:nvPr/>
        </p:nvSpPr>
        <p:spPr>
          <a:xfrm>
            <a:off x="2194560" y="1572768"/>
            <a:ext cx="1188720" cy="182880"/>
          </a:xfrm>
          <a:prstGeom prst="rect">
            <a:avLst/>
          </a:prstGeom>
          <a:noFill/>
          <a:ln/>
        </p:spPr>
        <p:txBody>
          <a:bodyPr wrap="square" lIns="0" tIns="0" rIns="0" bIns="0" rtlCol="0" anchor="t"/>
          <a:lstStyle/>
          <a:p>
            <a:pPr marL="0" indent="0">
              <a:buNone/>
            </a:pPr>
            <a:r>
              <a:rPr lang="en-US" sz="900" b="1" dirty="0">
                <a:solidFill>
                  <a:schemeClr val="accent6"/>
                </a:solidFill>
              </a:rPr>
              <a:t>P2</a:t>
            </a:r>
            <a:endParaRPr lang="en-US" sz="900" dirty="0"/>
          </a:p>
        </p:txBody>
      </p:sp>
      <p:sp>
        <p:nvSpPr>
          <p:cNvPr id="13" name="t"/>
          <p:cNvSpPr txBox="1"/>
          <p:nvPr/>
        </p:nvSpPr>
        <p:spPr>
          <a:xfrm>
            <a:off x="2194560" y="1755648"/>
            <a:ext cx="1207008" cy="502920"/>
          </a:xfrm>
          <a:prstGeom prst="rect">
            <a:avLst/>
          </a:prstGeom>
          <a:noFill/>
          <a:ln/>
        </p:spPr>
        <p:txBody>
          <a:bodyPr wrap="square" lIns="0" tIns="0" rIns="0" bIns="0" rtlCol="0" anchor="ctr"/>
          <a:lstStyle/>
          <a:p>
            <a:pPr marL="0" indent="0">
              <a:buNone/>
            </a:pPr>
            <a:r>
              <a:rPr lang="en-US" sz="1200" b="1" dirty="0">
                <a:solidFill>
                  <a:schemeClr val="bg1"/>
                </a:solidFill>
              </a:rPr>
              <a:t>2  Detection Engine</a:t>
            </a:r>
            <a:endParaRPr lang="en-US" sz="1200" dirty="0"/>
          </a:p>
        </p:txBody>
      </p:sp>
      <p:sp>
        <p:nvSpPr>
          <p:cNvPr id="14" name="mod"/>
          <p:cNvSpPr/>
          <p:nvPr/>
        </p:nvSpPr>
        <p:spPr>
          <a:xfrm>
            <a:off x="3749040" y="1508760"/>
            <a:ext cx="1371600" cy="777240"/>
          </a:xfrm>
          <a:prstGeom prst="roundRect">
            <a:avLst>
              <a:gd name="adj" fmla="val 9412"/>
            </a:avLst>
          </a:prstGeom>
          <a:solidFill>
            <a:schemeClr val="tx1"/>
          </a:solidFill>
          <a:ln w="12700">
            <a:solidFill>
              <a:schemeClr val="bg1">
                <a:alpha val="0"/>
              </a:schemeClr>
            </a:solidFill>
            <a:prstDash val="solid"/>
          </a:ln>
        </p:spPr>
        <p:txBody>
          <a:bodyPr/>
          <a:lstStyle/>
          <a:p>
            <a:endParaRPr/>
          </a:p>
        </p:txBody>
      </p:sp>
      <p:sp>
        <p:nvSpPr>
          <p:cNvPr id="15" name="p"/>
          <p:cNvSpPr txBox="1"/>
          <p:nvPr/>
        </p:nvSpPr>
        <p:spPr>
          <a:xfrm>
            <a:off x="3840480" y="1572768"/>
            <a:ext cx="1188720" cy="182880"/>
          </a:xfrm>
          <a:prstGeom prst="rect">
            <a:avLst/>
          </a:prstGeom>
          <a:noFill/>
          <a:ln/>
        </p:spPr>
        <p:txBody>
          <a:bodyPr wrap="square" lIns="0" tIns="0" rIns="0" bIns="0" rtlCol="0" anchor="t"/>
          <a:lstStyle/>
          <a:p>
            <a:pPr marL="0" indent="0">
              <a:buNone/>
            </a:pPr>
            <a:r>
              <a:rPr lang="en-US" sz="900" b="1" dirty="0">
                <a:solidFill>
                  <a:schemeClr val="accent6"/>
                </a:solidFill>
              </a:rPr>
              <a:t>P2 · P3</a:t>
            </a:r>
            <a:endParaRPr lang="en-US" sz="900" dirty="0"/>
          </a:p>
        </p:txBody>
      </p:sp>
      <p:sp>
        <p:nvSpPr>
          <p:cNvPr id="16" name="t"/>
          <p:cNvSpPr txBox="1"/>
          <p:nvPr/>
        </p:nvSpPr>
        <p:spPr>
          <a:xfrm>
            <a:off x="3840480" y="1755648"/>
            <a:ext cx="1207008" cy="502920"/>
          </a:xfrm>
          <a:prstGeom prst="rect">
            <a:avLst/>
          </a:prstGeom>
          <a:noFill/>
          <a:ln/>
        </p:spPr>
        <p:txBody>
          <a:bodyPr wrap="square" lIns="0" tIns="0" rIns="0" bIns="0" rtlCol="0" anchor="ctr"/>
          <a:lstStyle/>
          <a:p>
            <a:pPr marL="0" indent="0">
              <a:buNone/>
            </a:pPr>
            <a:r>
              <a:rPr lang="en-US" sz="1200" b="1" dirty="0">
                <a:solidFill>
                  <a:schemeClr val="bg1"/>
                </a:solidFill>
              </a:rPr>
              <a:t>3  Swap &amp; Sanitize</a:t>
            </a:r>
            <a:endParaRPr lang="en-US" sz="1200" dirty="0"/>
          </a:p>
        </p:txBody>
      </p:sp>
      <p:sp>
        <p:nvSpPr>
          <p:cNvPr id="17" name="mod"/>
          <p:cNvSpPr/>
          <p:nvPr/>
        </p:nvSpPr>
        <p:spPr>
          <a:xfrm>
            <a:off x="5394960" y="1508760"/>
            <a:ext cx="1371600" cy="777240"/>
          </a:xfrm>
          <a:prstGeom prst="roundRect">
            <a:avLst>
              <a:gd name="adj" fmla="val 9412"/>
            </a:avLst>
          </a:prstGeom>
          <a:solidFill>
            <a:schemeClr val="accent3"/>
          </a:solidFill>
          <a:ln w="12700">
            <a:solidFill>
              <a:schemeClr val="bg1">
                <a:alpha val="0"/>
              </a:schemeClr>
            </a:solidFill>
            <a:prstDash val="solid"/>
          </a:ln>
        </p:spPr>
        <p:txBody>
          <a:bodyPr/>
          <a:lstStyle/>
          <a:p>
            <a:endParaRPr/>
          </a:p>
        </p:txBody>
      </p:sp>
      <p:sp>
        <p:nvSpPr>
          <p:cNvPr id="18" name="p"/>
          <p:cNvSpPr txBox="1"/>
          <p:nvPr/>
        </p:nvSpPr>
        <p:spPr>
          <a:xfrm>
            <a:off x="5486400" y="1572768"/>
            <a:ext cx="1188720" cy="182880"/>
          </a:xfrm>
          <a:prstGeom prst="rect">
            <a:avLst/>
          </a:prstGeom>
          <a:noFill/>
          <a:ln/>
        </p:spPr>
        <p:txBody>
          <a:bodyPr wrap="square" lIns="0" tIns="0" rIns="0" bIns="0" rtlCol="0" anchor="t"/>
          <a:lstStyle/>
          <a:p>
            <a:pPr marL="0" indent="0">
              <a:buNone/>
            </a:pPr>
            <a:r>
              <a:rPr lang="en-US" sz="900" b="1" dirty="0">
                <a:solidFill>
                  <a:schemeClr val="bg1"/>
                </a:solidFill>
              </a:rPr>
              <a:t>P3</a:t>
            </a:r>
            <a:endParaRPr lang="en-US" sz="900" dirty="0"/>
          </a:p>
        </p:txBody>
      </p:sp>
      <p:sp>
        <p:nvSpPr>
          <p:cNvPr id="19" name="t"/>
          <p:cNvSpPr txBox="1"/>
          <p:nvPr/>
        </p:nvSpPr>
        <p:spPr>
          <a:xfrm>
            <a:off x="5486400" y="1755648"/>
            <a:ext cx="1207008" cy="502920"/>
          </a:xfrm>
          <a:prstGeom prst="rect">
            <a:avLst/>
          </a:prstGeom>
          <a:noFill/>
          <a:ln/>
        </p:spPr>
        <p:txBody>
          <a:bodyPr wrap="square" lIns="0" tIns="0" rIns="0" bIns="0" rtlCol="0" anchor="ctr"/>
          <a:lstStyle/>
          <a:p>
            <a:pPr marL="0" indent="0">
              <a:buNone/>
            </a:pPr>
            <a:r>
              <a:rPr lang="en-US" sz="1200" b="1" dirty="0">
                <a:solidFill>
                  <a:schemeClr val="bg1"/>
                </a:solidFill>
              </a:rPr>
              <a:t>4  Egress Firewall</a:t>
            </a:r>
            <a:endParaRPr lang="en-US" sz="1200" dirty="0"/>
          </a:p>
        </p:txBody>
      </p:sp>
      <p:sp>
        <p:nvSpPr>
          <p:cNvPr id="20" name="mod"/>
          <p:cNvSpPr/>
          <p:nvPr/>
        </p:nvSpPr>
        <p:spPr>
          <a:xfrm>
            <a:off x="5394960" y="3200400"/>
            <a:ext cx="1371600" cy="777240"/>
          </a:xfrm>
          <a:prstGeom prst="roundRect">
            <a:avLst>
              <a:gd name="adj" fmla="val 9412"/>
            </a:avLst>
          </a:prstGeom>
          <a:solidFill>
            <a:schemeClr val="tx1"/>
          </a:solidFill>
          <a:ln w="12700">
            <a:solidFill>
              <a:schemeClr val="bg1">
                <a:alpha val="0"/>
              </a:schemeClr>
            </a:solidFill>
            <a:prstDash val="solid"/>
          </a:ln>
        </p:spPr>
        <p:txBody>
          <a:bodyPr/>
          <a:lstStyle/>
          <a:p>
            <a:endParaRPr/>
          </a:p>
        </p:txBody>
      </p:sp>
      <p:sp>
        <p:nvSpPr>
          <p:cNvPr id="21" name="p"/>
          <p:cNvSpPr txBox="1"/>
          <p:nvPr/>
        </p:nvSpPr>
        <p:spPr>
          <a:xfrm>
            <a:off x="5486400" y="3264408"/>
            <a:ext cx="1188720" cy="182880"/>
          </a:xfrm>
          <a:prstGeom prst="rect">
            <a:avLst/>
          </a:prstGeom>
          <a:noFill/>
          <a:ln/>
        </p:spPr>
        <p:txBody>
          <a:bodyPr wrap="square" lIns="0" tIns="0" rIns="0" bIns="0" rtlCol="0" anchor="t"/>
          <a:lstStyle/>
          <a:p>
            <a:pPr marL="0" indent="0">
              <a:buNone/>
            </a:pPr>
            <a:r>
              <a:rPr lang="en-US" sz="900" b="1" dirty="0">
                <a:solidFill>
                  <a:schemeClr val="accent6"/>
                </a:solidFill>
              </a:rPr>
              <a:t>P1 · P4</a:t>
            </a:r>
            <a:endParaRPr lang="en-US" sz="900" dirty="0"/>
          </a:p>
        </p:txBody>
      </p:sp>
      <p:sp>
        <p:nvSpPr>
          <p:cNvPr id="22" name="t"/>
          <p:cNvSpPr txBox="1"/>
          <p:nvPr/>
        </p:nvSpPr>
        <p:spPr>
          <a:xfrm>
            <a:off x="5486400" y="3447288"/>
            <a:ext cx="1207008" cy="502920"/>
          </a:xfrm>
          <a:prstGeom prst="rect">
            <a:avLst/>
          </a:prstGeom>
          <a:noFill/>
          <a:ln/>
        </p:spPr>
        <p:txBody>
          <a:bodyPr wrap="square" lIns="0" tIns="0" rIns="0" bIns="0" rtlCol="0" anchor="ctr"/>
          <a:lstStyle/>
          <a:p>
            <a:pPr marL="0" indent="0">
              <a:buNone/>
            </a:pPr>
            <a:r>
              <a:rPr lang="en-US" sz="1200" b="1" dirty="0">
                <a:solidFill>
                  <a:schemeClr val="bg1"/>
                </a:solidFill>
              </a:rPr>
              <a:t>5  Validate &amp; Approve</a:t>
            </a:r>
            <a:endParaRPr lang="en-US" sz="1200" dirty="0"/>
          </a:p>
        </p:txBody>
      </p:sp>
      <p:sp>
        <p:nvSpPr>
          <p:cNvPr id="23" name="mod"/>
          <p:cNvSpPr/>
          <p:nvPr/>
        </p:nvSpPr>
        <p:spPr>
          <a:xfrm>
            <a:off x="2103120" y="3200400"/>
            <a:ext cx="1371600" cy="777240"/>
          </a:xfrm>
          <a:prstGeom prst="roundRect">
            <a:avLst>
              <a:gd name="adj" fmla="val 9412"/>
            </a:avLst>
          </a:prstGeom>
          <a:solidFill>
            <a:schemeClr val="tx1"/>
          </a:solidFill>
          <a:ln w="12700">
            <a:solidFill>
              <a:schemeClr val="bg1">
                <a:alpha val="0"/>
              </a:schemeClr>
            </a:solidFill>
            <a:prstDash val="solid"/>
          </a:ln>
        </p:spPr>
        <p:txBody>
          <a:bodyPr/>
          <a:lstStyle/>
          <a:p>
            <a:endParaRPr/>
          </a:p>
        </p:txBody>
      </p:sp>
      <p:sp>
        <p:nvSpPr>
          <p:cNvPr id="24" name="p"/>
          <p:cNvSpPr txBox="1"/>
          <p:nvPr/>
        </p:nvSpPr>
        <p:spPr>
          <a:xfrm>
            <a:off x="2194560" y="3264408"/>
            <a:ext cx="1188720" cy="182880"/>
          </a:xfrm>
          <a:prstGeom prst="rect">
            <a:avLst/>
          </a:prstGeom>
          <a:noFill/>
          <a:ln/>
        </p:spPr>
        <p:txBody>
          <a:bodyPr wrap="square" lIns="0" tIns="0" rIns="0" bIns="0" rtlCol="0" anchor="t"/>
          <a:lstStyle/>
          <a:p>
            <a:pPr marL="0" indent="0">
              <a:buNone/>
            </a:pPr>
            <a:r>
              <a:rPr lang="en-US" sz="900" b="1" dirty="0">
                <a:solidFill>
                  <a:schemeClr val="accent6"/>
                </a:solidFill>
              </a:rPr>
              <a:t>P1</a:t>
            </a:r>
            <a:endParaRPr lang="en-US" sz="900" dirty="0"/>
          </a:p>
        </p:txBody>
      </p:sp>
      <p:sp>
        <p:nvSpPr>
          <p:cNvPr id="25" name="t"/>
          <p:cNvSpPr txBox="1"/>
          <p:nvPr/>
        </p:nvSpPr>
        <p:spPr>
          <a:xfrm>
            <a:off x="2194560" y="3447288"/>
            <a:ext cx="1207008" cy="502920"/>
          </a:xfrm>
          <a:prstGeom prst="rect">
            <a:avLst/>
          </a:prstGeom>
          <a:noFill/>
          <a:ln/>
        </p:spPr>
        <p:txBody>
          <a:bodyPr wrap="square" lIns="0" tIns="0" rIns="0" bIns="0" rtlCol="0" anchor="ctr"/>
          <a:lstStyle/>
          <a:p>
            <a:pPr marL="0" indent="0">
              <a:buNone/>
            </a:pPr>
            <a:r>
              <a:rPr lang="en-US" sz="1200" b="1" dirty="0">
                <a:solidFill>
                  <a:schemeClr val="bg1"/>
                </a:solidFill>
              </a:rPr>
              <a:t>6  Executor &amp; Vault</a:t>
            </a:r>
            <a:endParaRPr lang="en-US" sz="1200" dirty="0"/>
          </a:p>
        </p:txBody>
      </p:sp>
      <p:sp>
        <p:nvSpPr>
          <p:cNvPr id="26" name="map"/>
          <p:cNvSpPr/>
          <p:nvPr/>
        </p:nvSpPr>
        <p:spPr>
          <a:xfrm>
            <a:off x="2743200" y="2542032"/>
            <a:ext cx="2011680" cy="457200"/>
          </a:xfrm>
          <a:prstGeom prst="roundRect">
            <a:avLst>
              <a:gd name="adj" fmla="val 16000"/>
            </a:avLst>
          </a:prstGeom>
          <a:solidFill>
            <a:schemeClr val="bg1"/>
          </a:solidFill>
          <a:ln w="12700">
            <a:solidFill>
              <a:schemeClr val="accent4"/>
            </a:solidFill>
            <a:prstDash val="dash"/>
          </a:ln>
        </p:spPr>
        <p:txBody>
          <a:bodyPr/>
          <a:lstStyle/>
          <a:p>
            <a:endParaRPr/>
          </a:p>
        </p:txBody>
      </p:sp>
      <p:sp>
        <p:nvSpPr>
          <p:cNvPr id="27" name="mt"/>
          <p:cNvSpPr txBox="1"/>
          <p:nvPr/>
        </p:nvSpPr>
        <p:spPr>
          <a:xfrm>
            <a:off x="2743200" y="2542032"/>
            <a:ext cx="2011680" cy="457200"/>
          </a:xfrm>
          <a:prstGeom prst="rect">
            <a:avLst/>
          </a:prstGeom>
          <a:noFill/>
          <a:ln/>
        </p:spPr>
        <p:txBody>
          <a:bodyPr wrap="square" lIns="0" tIns="0" rIns="0" bIns="0" rtlCol="0" anchor="ctr"/>
          <a:lstStyle/>
          <a:p>
            <a:pPr marL="0" indent="0" algn="ctr">
              <a:buNone/>
            </a:pPr>
            <a:r>
              <a:rPr lang="en-US" sz="1100" b="1" dirty="0">
                <a:solidFill>
                  <a:schemeClr val="accent4"/>
                </a:solidFill>
              </a:rPr>
              <a:t>Private map · local only</a:t>
            </a:r>
            <a:endParaRPr lang="en-US" sz="1100" dirty="0"/>
          </a:p>
        </p:txBody>
      </p:sp>
      <p:sp>
        <p:nvSpPr>
          <p:cNvPr id="28" name="llm"/>
          <p:cNvSpPr/>
          <p:nvPr/>
        </p:nvSpPr>
        <p:spPr>
          <a:xfrm>
            <a:off x="7680960" y="1508760"/>
            <a:ext cx="1097280" cy="777240"/>
          </a:xfrm>
          <a:prstGeom prst="roundRect">
            <a:avLst>
              <a:gd name="adj" fmla="val 9412"/>
            </a:avLst>
          </a:prstGeom>
          <a:solidFill>
            <a:schemeClr val="accent1"/>
          </a:solidFill>
          <a:ln w="12700">
            <a:solidFill>
              <a:schemeClr val="bg1">
                <a:alpha val="0"/>
              </a:schemeClr>
            </a:solidFill>
            <a:prstDash val="solid"/>
          </a:ln>
        </p:spPr>
        <p:txBody>
          <a:bodyPr/>
          <a:lstStyle/>
          <a:p>
            <a:endParaRPr/>
          </a:p>
        </p:txBody>
      </p:sp>
      <p:sp>
        <p:nvSpPr>
          <p:cNvPr id="29" name="lt"/>
          <p:cNvSpPr txBox="1"/>
          <p:nvPr/>
        </p:nvSpPr>
        <p:spPr>
          <a:xfrm>
            <a:off x="7680960" y="1508760"/>
            <a:ext cx="1097280" cy="777240"/>
          </a:xfrm>
          <a:prstGeom prst="rect">
            <a:avLst/>
          </a:prstGeom>
          <a:noFill/>
          <a:ln/>
        </p:spPr>
        <p:txBody>
          <a:bodyPr wrap="square" lIns="0" tIns="0" rIns="0" bIns="0" rtlCol="0" anchor="ctr"/>
          <a:lstStyle/>
          <a:p>
            <a:pPr marL="0" indent="0" algn="ctr">
              <a:buNone/>
            </a:pPr>
            <a:r>
              <a:rPr lang="en-US" sz="1300" b="1" dirty="0">
                <a:solidFill>
                  <a:schemeClr val="tx1"/>
                </a:solidFill>
              </a:rPr>
              <a:t>LLM</a:t>
            </a:r>
            <a:endParaRPr lang="en-US" sz="1300" dirty="0"/>
          </a:p>
          <a:p>
            <a:pPr marL="0" indent="0" algn="ctr">
              <a:buNone/>
            </a:pPr>
            <a:r>
              <a:rPr lang="en-US" sz="1300" b="1" dirty="0">
                <a:solidFill>
                  <a:schemeClr val="tx1"/>
                </a:solidFill>
              </a:rPr>
              <a:t>P4</a:t>
            </a:r>
            <a:endParaRPr lang="en-US" sz="1300" dirty="0"/>
          </a:p>
        </p:txBody>
      </p:sp>
      <p:sp>
        <p:nvSpPr>
          <p:cNvPr id="30" name="ln"/>
          <p:cNvSpPr txBox="1"/>
          <p:nvPr/>
        </p:nvSpPr>
        <p:spPr>
          <a:xfrm>
            <a:off x="7680960" y="3749040"/>
            <a:ext cx="1097280" cy="548640"/>
          </a:xfrm>
          <a:prstGeom prst="rect">
            <a:avLst/>
          </a:prstGeom>
          <a:noFill/>
          <a:ln/>
        </p:spPr>
        <p:txBody>
          <a:bodyPr wrap="square" lIns="0" tIns="0" rIns="0" bIns="0" rtlCol="0" anchor="t"/>
          <a:lstStyle/>
          <a:p>
            <a:pPr marL="0" indent="0" algn="ctr">
              <a:buNone/>
            </a:pPr>
            <a:r>
              <a:rPr lang="en-US" sz="1000" dirty="0">
                <a:solidFill>
                  <a:schemeClr val="accent3"/>
                </a:solidFill>
              </a:rPr>
              <a:t>Sees synthetic data only</a:t>
            </a:r>
            <a:endParaRPr lang="en-US" sz="1000" dirty="0"/>
          </a:p>
        </p:txBody>
      </p:sp>
      <p:sp>
        <p:nvSpPr>
          <p:cNvPr id="31" name="ar"/>
          <p:cNvSpPr/>
          <p:nvPr/>
        </p:nvSpPr>
        <p:spPr>
          <a:xfrm>
            <a:off x="1828800" y="1897380"/>
            <a:ext cx="274320" cy="0"/>
          </a:xfrm>
          <a:prstGeom prst="line">
            <a:avLst/>
          </a:prstGeom>
          <a:noFill/>
          <a:ln w="28575">
            <a:solidFill>
              <a:schemeClr val="accent3"/>
            </a:solidFill>
            <a:prstDash val="solid"/>
            <a:tailEnd type="triangle"/>
          </a:ln>
        </p:spPr>
        <p:txBody>
          <a:bodyPr/>
          <a:lstStyle/>
          <a:p>
            <a:endParaRPr/>
          </a:p>
        </p:txBody>
      </p:sp>
      <p:sp>
        <p:nvSpPr>
          <p:cNvPr id="32" name="ar"/>
          <p:cNvSpPr/>
          <p:nvPr/>
        </p:nvSpPr>
        <p:spPr>
          <a:xfrm>
            <a:off x="3474720" y="1897380"/>
            <a:ext cx="274320" cy="0"/>
          </a:xfrm>
          <a:prstGeom prst="line">
            <a:avLst/>
          </a:prstGeom>
          <a:noFill/>
          <a:ln w="28575">
            <a:solidFill>
              <a:schemeClr val="accent3"/>
            </a:solidFill>
            <a:prstDash val="solid"/>
            <a:tailEnd type="triangle"/>
          </a:ln>
        </p:spPr>
        <p:txBody>
          <a:bodyPr/>
          <a:lstStyle/>
          <a:p>
            <a:endParaRPr/>
          </a:p>
        </p:txBody>
      </p:sp>
      <p:sp>
        <p:nvSpPr>
          <p:cNvPr id="33" name="ar"/>
          <p:cNvSpPr/>
          <p:nvPr/>
        </p:nvSpPr>
        <p:spPr>
          <a:xfrm>
            <a:off x="5120640" y="1897380"/>
            <a:ext cx="274320" cy="0"/>
          </a:xfrm>
          <a:prstGeom prst="line">
            <a:avLst/>
          </a:prstGeom>
          <a:noFill/>
          <a:ln w="28575">
            <a:solidFill>
              <a:schemeClr val="accent2"/>
            </a:solidFill>
            <a:prstDash val="solid"/>
            <a:tailEnd type="triangle"/>
          </a:ln>
        </p:spPr>
        <p:txBody>
          <a:bodyPr/>
          <a:lstStyle/>
          <a:p>
            <a:endParaRPr/>
          </a:p>
        </p:txBody>
      </p:sp>
      <p:sp>
        <p:nvSpPr>
          <p:cNvPr id="34" name="ar"/>
          <p:cNvSpPr/>
          <p:nvPr/>
        </p:nvSpPr>
        <p:spPr>
          <a:xfrm>
            <a:off x="6766560" y="1897380"/>
            <a:ext cx="914400" cy="0"/>
          </a:xfrm>
          <a:prstGeom prst="line">
            <a:avLst/>
          </a:prstGeom>
          <a:noFill/>
          <a:ln w="28575">
            <a:solidFill>
              <a:schemeClr val="accent2"/>
            </a:solidFill>
            <a:prstDash val="solid"/>
            <a:tailEnd type="triangle"/>
          </a:ln>
        </p:spPr>
        <p:txBody>
          <a:bodyPr/>
          <a:lstStyle/>
          <a:p>
            <a:endParaRPr/>
          </a:p>
        </p:txBody>
      </p:sp>
      <p:sp>
        <p:nvSpPr>
          <p:cNvPr id="35" name="l1"/>
          <p:cNvSpPr/>
          <p:nvPr/>
        </p:nvSpPr>
        <p:spPr>
          <a:xfrm>
            <a:off x="4434840" y="2286000"/>
            <a:ext cx="0" cy="256032"/>
          </a:xfrm>
          <a:prstGeom prst="line">
            <a:avLst/>
          </a:prstGeom>
          <a:noFill/>
          <a:ln w="28575">
            <a:solidFill>
              <a:schemeClr val="accent4"/>
            </a:solidFill>
            <a:prstDash val="dash"/>
          </a:ln>
        </p:spPr>
        <p:txBody>
          <a:bodyPr/>
          <a:lstStyle/>
          <a:p>
            <a:endParaRPr/>
          </a:p>
        </p:txBody>
      </p:sp>
      <p:sp>
        <p:nvSpPr>
          <p:cNvPr id="36" name="l2"/>
          <p:cNvSpPr/>
          <p:nvPr/>
        </p:nvSpPr>
        <p:spPr>
          <a:xfrm>
            <a:off x="3017520" y="2999232"/>
            <a:ext cx="0" cy="201168"/>
          </a:xfrm>
          <a:prstGeom prst="line">
            <a:avLst/>
          </a:prstGeom>
          <a:noFill/>
          <a:ln w="28575">
            <a:solidFill>
              <a:schemeClr val="accent4"/>
            </a:solidFill>
            <a:prstDash val="dash"/>
            <a:tailEnd type="triangle"/>
          </a:ln>
        </p:spPr>
        <p:txBody>
          <a:bodyPr/>
          <a:lstStyle/>
          <a:p>
            <a:endParaRPr/>
          </a:p>
        </p:txBody>
      </p:sp>
      <p:sp>
        <p:nvSpPr>
          <p:cNvPr id="37" name="l3"/>
          <p:cNvSpPr/>
          <p:nvPr/>
        </p:nvSpPr>
        <p:spPr>
          <a:xfrm>
            <a:off x="8229600" y="2286000"/>
            <a:ext cx="0" cy="1303020"/>
          </a:xfrm>
          <a:prstGeom prst="line">
            <a:avLst/>
          </a:prstGeom>
          <a:noFill/>
          <a:ln w="28575">
            <a:solidFill>
              <a:schemeClr val="accent1"/>
            </a:solidFill>
            <a:prstDash val="solid"/>
          </a:ln>
        </p:spPr>
        <p:txBody>
          <a:bodyPr/>
          <a:lstStyle/>
          <a:p>
            <a:endParaRPr/>
          </a:p>
        </p:txBody>
      </p:sp>
      <p:sp>
        <p:nvSpPr>
          <p:cNvPr id="38" name="l4"/>
          <p:cNvSpPr/>
          <p:nvPr/>
        </p:nvSpPr>
        <p:spPr>
          <a:xfrm flipH="1">
            <a:off x="6766560" y="3589020"/>
            <a:ext cx="1463040" cy="0"/>
          </a:xfrm>
          <a:prstGeom prst="line">
            <a:avLst/>
          </a:prstGeom>
          <a:noFill/>
          <a:ln w="28575">
            <a:solidFill>
              <a:schemeClr val="accent1"/>
            </a:solidFill>
            <a:prstDash val="solid"/>
            <a:tailEnd type="triangle"/>
          </a:ln>
        </p:spPr>
        <p:txBody>
          <a:bodyPr/>
          <a:lstStyle/>
          <a:p>
            <a:endParaRPr/>
          </a:p>
        </p:txBody>
      </p:sp>
      <p:sp>
        <p:nvSpPr>
          <p:cNvPr id="39" name="l5"/>
          <p:cNvSpPr/>
          <p:nvPr/>
        </p:nvSpPr>
        <p:spPr>
          <a:xfrm flipH="1">
            <a:off x="3474720" y="3589020"/>
            <a:ext cx="1920240" cy="0"/>
          </a:xfrm>
          <a:prstGeom prst="line">
            <a:avLst/>
          </a:prstGeom>
          <a:noFill/>
          <a:ln w="28575">
            <a:solidFill>
              <a:schemeClr val="accent1"/>
            </a:solidFill>
            <a:prstDash val="solid"/>
            <a:tailEnd type="triangle"/>
          </a:ln>
        </p:spPr>
        <p:txBody>
          <a:bodyPr/>
          <a:lstStyle/>
          <a:p>
            <a:endParaRPr/>
          </a:p>
        </p:txBody>
      </p:sp>
      <p:sp>
        <p:nvSpPr>
          <p:cNvPr id="40" name="l6"/>
          <p:cNvSpPr/>
          <p:nvPr/>
        </p:nvSpPr>
        <p:spPr>
          <a:xfrm flipH="1">
            <a:off x="1143000" y="3589020"/>
            <a:ext cx="960120" cy="0"/>
          </a:xfrm>
          <a:prstGeom prst="line">
            <a:avLst/>
          </a:prstGeom>
          <a:noFill/>
          <a:ln w="28575">
            <a:solidFill>
              <a:schemeClr val="accent3"/>
            </a:solidFill>
            <a:prstDash val="solid"/>
          </a:ln>
        </p:spPr>
        <p:txBody>
          <a:bodyPr/>
          <a:lstStyle/>
          <a:p>
            <a:endParaRPr/>
          </a:p>
        </p:txBody>
      </p:sp>
      <p:sp>
        <p:nvSpPr>
          <p:cNvPr id="41" name="l7"/>
          <p:cNvSpPr/>
          <p:nvPr/>
        </p:nvSpPr>
        <p:spPr>
          <a:xfrm flipV="1">
            <a:off x="1143000" y="2286000"/>
            <a:ext cx="0" cy="1303020"/>
          </a:xfrm>
          <a:prstGeom prst="line">
            <a:avLst/>
          </a:prstGeom>
          <a:noFill/>
          <a:ln w="28575">
            <a:solidFill>
              <a:schemeClr val="accent3"/>
            </a:solidFill>
            <a:prstDash val="solid"/>
            <a:tailEnd type="triangle"/>
          </a:ln>
        </p:spPr>
        <p:txBody>
          <a:bodyPr/>
          <a:lstStyle/>
          <a:p>
            <a:endParaRPr/>
          </a:p>
        </p:txBody>
      </p:sp>
      <p:sp>
        <p:nvSpPr>
          <p:cNvPr id="42" name="a"/>
          <p:cNvSpPr txBox="1"/>
          <p:nvPr/>
        </p:nvSpPr>
        <p:spPr>
          <a:xfrm>
            <a:off x="6784848" y="1645920"/>
            <a:ext cx="594360" cy="201168"/>
          </a:xfrm>
          <a:prstGeom prst="rect">
            <a:avLst/>
          </a:prstGeom>
          <a:noFill/>
          <a:ln/>
        </p:spPr>
        <p:txBody>
          <a:bodyPr wrap="square" lIns="0" tIns="0" rIns="0" bIns="0" rtlCol="0" anchor="t"/>
          <a:lstStyle/>
          <a:p>
            <a:pPr marL="0" indent="0" algn="ctr">
              <a:buNone/>
            </a:pPr>
            <a:r>
              <a:rPr lang="en-US" sz="900" dirty="0">
                <a:solidFill>
                  <a:schemeClr val="accent2"/>
                </a:solidFill>
              </a:rPr>
              <a:t>payload</a:t>
            </a:r>
            <a:endParaRPr lang="en-US" sz="900" dirty="0"/>
          </a:p>
        </p:txBody>
      </p:sp>
      <p:sp>
        <p:nvSpPr>
          <p:cNvPr id="43" name="a"/>
          <p:cNvSpPr txBox="1"/>
          <p:nvPr/>
        </p:nvSpPr>
        <p:spPr>
          <a:xfrm>
            <a:off x="6812280" y="3364992"/>
            <a:ext cx="548640" cy="201168"/>
          </a:xfrm>
          <a:prstGeom prst="rect">
            <a:avLst/>
          </a:prstGeom>
          <a:noFill/>
          <a:ln/>
        </p:spPr>
        <p:txBody>
          <a:bodyPr wrap="square" lIns="0" tIns="0" rIns="0" bIns="0" rtlCol="0" anchor="t"/>
          <a:lstStyle/>
          <a:p>
            <a:pPr marL="0" indent="0" algn="ctr">
              <a:buNone/>
            </a:pPr>
            <a:r>
              <a:rPr lang="en-US" sz="1000" dirty="0">
                <a:solidFill>
                  <a:schemeClr val="accent1"/>
                </a:solidFill>
              </a:rPr>
              <a:t>action</a:t>
            </a:r>
            <a:endParaRPr lang="en-US" sz="1000" dirty="0"/>
          </a:p>
        </p:txBody>
      </p:sp>
      <p:sp>
        <p:nvSpPr>
          <p:cNvPr id="44" name="a"/>
          <p:cNvSpPr txBox="1"/>
          <p:nvPr/>
        </p:nvSpPr>
        <p:spPr>
          <a:xfrm>
            <a:off x="3566160" y="3337560"/>
            <a:ext cx="1737360" cy="201168"/>
          </a:xfrm>
          <a:prstGeom prst="rect">
            <a:avLst/>
          </a:prstGeom>
          <a:noFill/>
          <a:ln/>
        </p:spPr>
        <p:txBody>
          <a:bodyPr wrap="square" lIns="0" tIns="0" rIns="0" bIns="0" rtlCol="0" anchor="t"/>
          <a:lstStyle/>
          <a:p>
            <a:pPr marL="0" indent="0" algn="ctr">
              <a:buNone/>
            </a:pPr>
            <a:r>
              <a:rPr lang="en-US" sz="1000" dirty="0">
                <a:solidFill>
                  <a:schemeClr val="accent1"/>
                </a:solidFill>
              </a:rPr>
              <a:t>approved action</a:t>
            </a:r>
            <a:endParaRPr lang="en-US" sz="1000" dirty="0"/>
          </a:p>
        </p:txBody>
      </p:sp>
      <p:sp>
        <p:nvSpPr>
          <p:cNvPr id="45" name="a"/>
          <p:cNvSpPr txBox="1"/>
          <p:nvPr/>
        </p:nvSpPr>
        <p:spPr>
          <a:xfrm>
            <a:off x="411480" y="3639312"/>
            <a:ext cx="1463040" cy="201168"/>
          </a:xfrm>
          <a:prstGeom prst="rect">
            <a:avLst/>
          </a:prstGeom>
          <a:noFill/>
          <a:ln/>
        </p:spPr>
        <p:txBody>
          <a:bodyPr wrap="square" lIns="0" tIns="0" rIns="0" bIns="0" rtlCol="0" anchor="t"/>
          <a:lstStyle/>
          <a:p>
            <a:pPr marL="0" indent="0">
              <a:buNone/>
            </a:pPr>
            <a:r>
              <a:rPr lang="en-US" sz="1000" dirty="0">
                <a:solidFill>
                  <a:schemeClr val="accent3"/>
                </a:solidFill>
              </a:rPr>
              <a:t>types real value</a:t>
            </a:r>
            <a:endParaRPr lang="en-US" sz="1000" dirty="0"/>
          </a:p>
        </p:txBody>
      </p:sp>
      <p:sp>
        <p:nvSpPr>
          <p:cNvPr id="46" name="lg"/>
          <p:cNvSpPr/>
          <p:nvPr/>
        </p:nvSpPr>
        <p:spPr>
          <a:xfrm>
            <a:off x="2194560" y="4544568"/>
            <a:ext cx="274320" cy="91440"/>
          </a:xfrm>
          <a:prstGeom prst="rect">
            <a:avLst/>
          </a:prstGeom>
          <a:solidFill>
            <a:schemeClr val="accent3"/>
          </a:solidFill>
          <a:ln w="12700">
            <a:solidFill>
              <a:schemeClr val="bg1">
                <a:alpha val="0"/>
              </a:schemeClr>
            </a:solidFill>
            <a:prstDash val="solid"/>
          </a:ln>
        </p:spPr>
        <p:txBody>
          <a:bodyPr/>
          <a:lstStyle/>
          <a:p>
            <a:endParaRPr/>
          </a:p>
        </p:txBody>
      </p:sp>
      <p:sp>
        <p:nvSpPr>
          <p:cNvPr id="47" name="lg"/>
          <p:cNvSpPr txBox="1"/>
          <p:nvPr/>
        </p:nvSpPr>
        <p:spPr>
          <a:xfrm>
            <a:off x="2560320" y="4480560"/>
            <a:ext cx="1280160" cy="228600"/>
          </a:xfrm>
          <a:prstGeom prst="rect">
            <a:avLst/>
          </a:prstGeom>
          <a:noFill/>
          <a:ln/>
        </p:spPr>
        <p:txBody>
          <a:bodyPr wrap="square" lIns="0" tIns="0" rIns="0" bIns="0" rtlCol="0" anchor="ctr"/>
          <a:lstStyle/>
          <a:p>
            <a:pPr marL="0" indent="0">
              <a:buNone/>
            </a:pPr>
            <a:r>
              <a:rPr lang="en-US" sz="1100" dirty="0">
                <a:solidFill>
                  <a:schemeClr val="accent4"/>
                </a:solidFill>
              </a:rPr>
              <a:t>Real data</a:t>
            </a:r>
            <a:endParaRPr lang="en-US" sz="1100" dirty="0"/>
          </a:p>
        </p:txBody>
      </p:sp>
      <p:sp>
        <p:nvSpPr>
          <p:cNvPr id="48" name="lg"/>
          <p:cNvSpPr/>
          <p:nvPr/>
        </p:nvSpPr>
        <p:spPr>
          <a:xfrm>
            <a:off x="3931920" y="4544568"/>
            <a:ext cx="274320" cy="91440"/>
          </a:xfrm>
          <a:prstGeom prst="rect">
            <a:avLst/>
          </a:prstGeom>
          <a:solidFill>
            <a:schemeClr val="accent2"/>
          </a:solidFill>
          <a:ln w="12700">
            <a:solidFill>
              <a:schemeClr val="bg1">
                <a:alpha val="0"/>
              </a:schemeClr>
            </a:solidFill>
            <a:prstDash val="solid"/>
          </a:ln>
        </p:spPr>
        <p:txBody>
          <a:bodyPr/>
          <a:lstStyle/>
          <a:p>
            <a:endParaRPr/>
          </a:p>
        </p:txBody>
      </p:sp>
      <p:sp>
        <p:nvSpPr>
          <p:cNvPr id="49" name="lg"/>
          <p:cNvSpPr txBox="1"/>
          <p:nvPr/>
        </p:nvSpPr>
        <p:spPr>
          <a:xfrm>
            <a:off x="4297680" y="4480560"/>
            <a:ext cx="1280160" cy="228600"/>
          </a:xfrm>
          <a:prstGeom prst="rect">
            <a:avLst/>
          </a:prstGeom>
          <a:noFill/>
          <a:ln/>
        </p:spPr>
        <p:txBody>
          <a:bodyPr wrap="square" lIns="0" tIns="0" rIns="0" bIns="0" rtlCol="0" anchor="ctr"/>
          <a:lstStyle/>
          <a:p>
            <a:pPr marL="0" indent="0">
              <a:buNone/>
            </a:pPr>
            <a:r>
              <a:rPr lang="en-US" sz="1100" dirty="0">
                <a:solidFill>
                  <a:schemeClr val="accent4"/>
                </a:solidFill>
              </a:rPr>
              <a:t>Synthetic data</a:t>
            </a:r>
            <a:endParaRPr lang="en-US" sz="1100" dirty="0"/>
          </a:p>
        </p:txBody>
      </p:sp>
      <p:sp>
        <p:nvSpPr>
          <p:cNvPr id="50" name="lg"/>
          <p:cNvSpPr/>
          <p:nvPr/>
        </p:nvSpPr>
        <p:spPr>
          <a:xfrm>
            <a:off x="5669280" y="4544568"/>
            <a:ext cx="274320" cy="91440"/>
          </a:xfrm>
          <a:prstGeom prst="rect">
            <a:avLst/>
          </a:prstGeom>
          <a:solidFill>
            <a:schemeClr val="accent1"/>
          </a:solidFill>
          <a:ln w="12700">
            <a:solidFill>
              <a:schemeClr val="bg1">
                <a:alpha val="0"/>
              </a:schemeClr>
            </a:solidFill>
            <a:prstDash val="solid"/>
          </a:ln>
        </p:spPr>
        <p:txBody>
          <a:bodyPr/>
          <a:lstStyle/>
          <a:p>
            <a:endParaRPr/>
          </a:p>
        </p:txBody>
      </p:sp>
      <p:sp>
        <p:nvSpPr>
          <p:cNvPr id="51" name="lg"/>
          <p:cNvSpPr txBox="1"/>
          <p:nvPr/>
        </p:nvSpPr>
        <p:spPr>
          <a:xfrm>
            <a:off x="6035040" y="4480560"/>
            <a:ext cx="1280160" cy="228600"/>
          </a:xfrm>
          <a:prstGeom prst="rect">
            <a:avLst/>
          </a:prstGeom>
          <a:noFill/>
          <a:ln/>
        </p:spPr>
        <p:txBody>
          <a:bodyPr wrap="square" lIns="0" tIns="0" rIns="0" bIns="0" rtlCol="0" anchor="ctr"/>
          <a:lstStyle/>
          <a:p>
            <a:pPr marL="0" indent="0">
              <a:buNone/>
            </a:pPr>
            <a:r>
              <a:rPr lang="en-US" sz="1100" dirty="0">
                <a:solidFill>
                  <a:schemeClr val="accent4"/>
                </a:solidFill>
              </a:rPr>
              <a:t>Action</a:t>
            </a:r>
            <a:endParaRPr lang="en-US" sz="1100" dirty="0"/>
          </a:p>
        </p:txBody>
      </p:sp>
      <p:sp>
        <p:nvSpPr>
          <p:cNvPr id="62"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4</a:t>
            </a:fld>
            <a:endParaRPr lang="en-US"/>
          </a:p>
        </p:txBody>
      </p:sp>
      <p:sp>
        <p:nvSpPr>
          <p:cNvPr id="52" name="nav1">
            <a:hlinkClick r:id="rId3" action="ppaction://hlinksldjump" tooltip="1. Title"/>
          </p:cNvPr>
          <p:cNvSpPr/>
          <p:nvPr/>
        </p:nvSpPr>
        <p:spPr>
          <a:xfrm>
            <a:off x="3364991"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1</a:t>
            </a:r>
          </a:p>
        </p:txBody>
      </p:sp>
      <p:sp>
        <p:nvSpPr>
          <p:cNvPr id="53" name="nav2">
            <a:hlinkClick r:id="rId4" action="ppaction://hlinksldjump" tooltip="2. Problem"/>
          </p:cNvPr>
          <p:cNvSpPr/>
          <p:nvPr/>
        </p:nvSpPr>
        <p:spPr>
          <a:xfrm>
            <a:off x="3675887"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2</a:t>
            </a:r>
          </a:p>
        </p:txBody>
      </p:sp>
      <p:sp>
        <p:nvSpPr>
          <p:cNvPr id="54" name="nav3">
            <a:hlinkClick r:id="rId5" action="ppaction://hlinksldjump" tooltip="3. Idea"/>
          </p:cNvPr>
          <p:cNvSpPr/>
          <p:nvPr/>
        </p:nvSpPr>
        <p:spPr>
          <a:xfrm>
            <a:off x="3986783"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3</a:t>
            </a:r>
          </a:p>
        </p:txBody>
      </p:sp>
      <p:sp>
        <p:nvSpPr>
          <p:cNvPr id="55" name="nav4">
            <a:hlinkClick r:id="rId6" action="ppaction://hlinksldjump" tooltip="4. Architecture"/>
          </p:cNvPr>
          <p:cNvSpPr/>
          <p:nvPr/>
        </p:nvSpPr>
        <p:spPr>
          <a:xfrm>
            <a:off x="4297679" y="472744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bg1"/>
                </a:solidFill>
              </a:rPr>
              <a:t>4</a:t>
            </a:r>
          </a:p>
        </p:txBody>
      </p:sp>
      <p:sp>
        <p:nvSpPr>
          <p:cNvPr id="56" name="nav5">
            <a:hlinkClick r:id="rId7" action="ppaction://hlinksldjump" tooltip="5. Pipeline"/>
          </p:cNvPr>
          <p:cNvSpPr/>
          <p:nvPr/>
        </p:nvSpPr>
        <p:spPr>
          <a:xfrm>
            <a:off x="4608576"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5</a:t>
            </a:r>
          </a:p>
        </p:txBody>
      </p:sp>
      <p:sp>
        <p:nvSpPr>
          <p:cNvPr id="57" name="nav6">
            <a:hlinkClick r:id="rId8" action="ppaction://hlinksldjump" tooltip="6. Different"/>
          </p:cNvPr>
          <p:cNvSpPr/>
          <p:nvPr/>
        </p:nvSpPr>
        <p:spPr>
          <a:xfrm>
            <a:off x="4919472"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6</a:t>
            </a:r>
          </a:p>
        </p:txBody>
      </p:sp>
      <p:sp>
        <p:nvSpPr>
          <p:cNvPr id="58" name="nav7">
            <a:hlinkClick r:id="rId9" action="ppaction://hlinksldjump" tooltip="7. Proof"/>
          </p:cNvPr>
          <p:cNvSpPr/>
          <p:nvPr/>
        </p:nvSpPr>
        <p:spPr>
          <a:xfrm>
            <a:off x="5230368"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7</a:t>
            </a:r>
          </a:p>
        </p:txBody>
      </p:sp>
      <p:sp>
        <p:nvSpPr>
          <p:cNvPr id="59" name="nav8">
            <a:hlinkClick r:id="rId10" action="ppaction://hlinksldjump" tooltip="8. Roadmap"/>
          </p:cNvPr>
          <p:cNvSpPr/>
          <p:nvPr/>
        </p:nvSpPr>
        <p:spPr>
          <a:xfrm>
            <a:off x="5541264"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8</a:t>
            </a:r>
          </a:p>
        </p:txBody>
      </p:sp>
      <p:sp>
        <p:nvSpPr>
          <p:cNvPr id="60" name="prev">
            <a:hlinkClick r:id="rId5" action="ppaction://hlinksldjump" tooltip="Previous slide"/>
          </p:cNvPr>
          <p:cNvSpPr txBox="1"/>
          <p:nvPr/>
        </p:nvSpPr>
        <p:spPr>
          <a:xfrm>
            <a:off x="3054096" y="4700016"/>
            <a:ext cx="256032" cy="274320"/>
          </a:xfrm>
          <a:prstGeom prst="rect">
            <a:avLst/>
          </a:prstGeom>
          <a:noFill/>
        </p:spPr>
        <p:txBody>
          <a:bodyPr wrap="square" lIns="0" tIns="0" rIns="0" bIns="0" anchor="ctr">
            <a:spAutoFit/>
          </a:bodyPr>
          <a:lstStyle/>
          <a:p>
            <a:pPr algn="ctr">
              <a:spcAft>
                <a:spcPts val="0"/>
              </a:spcAft>
            </a:pPr>
            <a:r>
              <a:rPr sz="1800" b="1">
                <a:solidFill>
                  <a:schemeClr val="accent4"/>
                </a:solidFill>
              </a:rPr>
              <a:t>‹</a:t>
            </a:r>
          </a:p>
        </p:txBody>
      </p:sp>
      <p:sp>
        <p:nvSpPr>
          <p:cNvPr id="61" name="next">
            <a:hlinkClick r:id="rId7" action="ppaction://hlinksldjump" tooltip="Next slide"/>
          </p:cNvPr>
          <p:cNvSpPr txBox="1"/>
          <p:nvPr/>
        </p:nvSpPr>
        <p:spPr>
          <a:xfrm>
            <a:off x="5833872" y="4700016"/>
            <a:ext cx="256032" cy="274320"/>
          </a:xfrm>
          <a:prstGeom prst="rect">
            <a:avLst/>
          </a:prstGeom>
          <a:noFill/>
        </p:spPr>
        <p:txBody>
          <a:bodyPr wrap="square" lIns="0" tIns="0" rIns="0" bIns="0" anchor="ctr">
            <a:spAutoFit/>
          </a:bodyPr>
          <a:lstStyle/>
          <a:p>
            <a:pPr algn="ctr">
              <a:spcAft>
                <a:spcPts val="0"/>
              </a:spcAft>
            </a:pPr>
            <a:r>
              <a:rPr sz="1800" b="1">
                <a:solidFill>
                  <a:schemeClr val="accent4"/>
                </a:solidFill>
              </a:rPr>
              <a:t>›</a:t>
            </a:r>
          </a:p>
        </p:txBody>
      </p:sp>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rPr>
              <a:t>Pipeline: follow the data</a:t>
            </a:r>
            <a:endParaRPr lang="en-US" sz="3000" dirty="0"/>
          </a:p>
        </p:txBody>
      </p:sp>
      <p:sp>
        <p:nvSpPr>
          <p:cNvPr id="3" name="text">
            <a:hlinkClick r:id="rId3" action="ppaction://hlinksldjump" tooltip="Back to title and topics"/>
          </p:cNvPr>
          <p:cNvSpPr txBox="1"/>
          <p:nvPr/>
        </p:nvSpPr>
        <p:spPr>
          <a:xfrm>
            <a:off x="457200" y="4786884"/>
            <a:ext cx="1097280" cy="228600"/>
          </a:xfrm>
          <a:prstGeom prst="rect">
            <a:avLst/>
          </a:prstGeom>
          <a:noFill/>
          <a:ln/>
        </p:spPr>
        <p:txBody>
          <a:bodyPr wrap="square" lIns="0" tIns="0" rIns="0" bIns="0" rtlCol="0" anchor="t"/>
          <a:lstStyle/>
          <a:p>
            <a:pPr marL="0" indent="0">
              <a:buNone/>
            </a:pPr>
            <a:r>
              <a:rPr lang="en-US" sz="1000" u="sng" dirty="0">
                <a:solidFill>
                  <a:schemeClr val="accent4"/>
                </a:solidFill>
              </a:rPr>
              <a:t>⌂ Home</a:t>
            </a:r>
            <a:endParaRPr lang="en-US" sz="1000" dirty="0"/>
          </a:p>
        </p:txBody>
      </p:sp>
      <p:sp>
        <p:nvSpPr>
          <p:cNvPr id="4" name="animslow bar"/>
          <p:cNvSpPr/>
          <p:nvPr/>
        </p:nvSpPr>
        <p:spPr>
          <a:xfrm>
            <a:off x="457200" y="1188720"/>
            <a:ext cx="3346704" cy="256032"/>
          </a:xfrm>
          <a:prstGeom prst="rect">
            <a:avLst/>
          </a:prstGeom>
          <a:solidFill>
            <a:schemeClr val="accent3"/>
          </a:solidFill>
          <a:ln w="12700">
            <a:solidFill>
              <a:schemeClr val="bg1">
                <a:alpha val="0"/>
              </a:schemeClr>
            </a:solidFill>
            <a:prstDash val="solid"/>
          </a:ln>
        </p:spPr>
        <p:txBody>
          <a:bodyPr/>
          <a:lstStyle/>
          <a:p>
            <a:endParaRPr/>
          </a:p>
        </p:txBody>
      </p:sp>
      <p:sp>
        <p:nvSpPr>
          <p:cNvPr id="5" name="bt"/>
          <p:cNvSpPr txBox="1"/>
          <p:nvPr/>
        </p:nvSpPr>
        <p:spPr>
          <a:xfrm>
            <a:off x="457200" y="1188720"/>
            <a:ext cx="3346704" cy="256032"/>
          </a:xfrm>
          <a:prstGeom prst="rect">
            <a:avLst/>
          </a:prstGeom>
          <a:noFill/>
          <a:ln/>
        </p:spPr>
        <p:txBody>
          <a:bodyPr wrap="square" lIns="0" tIns="0" rIns="0" bIns="0" rtlCol="0" anchor="ctr"/>
          <a:lstStyle/>
          <a:p>
            <a:pPr marL="0" indent="0" algn="ctr">
              <a:buNone/>
            </a:pPr>
            <a:r>
              <a:rPr lang="en-US" sz="1000" b="1" kern="0" spc="100" dirty="0">
                <a:solidFill>
                  <a:schemeClr val="bg1"/>
                </a:solidFill>
              </a:rPr>
              <a:t>REAL DATA · LOCAL</a:t>
            </a:r>
            <a:endParaRPr lang="en-US" sz="1000" dirty="0"/>
          </a:p>
        </p:txBody>
      </p:sp>
      <p:sp>
        <p:nvSpPr>
          <p:cNvPr id="6" name="animslow bar"/>
          <p:cNvSpPr/>
          <p:nvPr/>
        </p:nvSpPr>
        <p:spPr>
          <a:xfrm>
            <a:off x="4105656" y="1188720"/>
            <a:ext cx="3346704" cy="256032"/>
          </a:xfrm>
          <a:prstGeom prst="rect">
            <a:avLst/>
          </a:prstGeom>
          <a:solidFill>
            <a:schemeClr val="accent2"/>
          </a:solidFill>
          <a:ln w="12700">
            <a:solidFill>
              <a:schemeClr val="bg1">
                <a:alpha val="0"/>
              </a:schemeClr>
            </a:solidFill>
            <a:prstDash val="solid"/>
          </a:ln>
        </p:spPr>
        <p:txBody>
          <a:bodyPr/>
          <a:lstStyle/>
          <a:p>
            <a:endParaRPr/>
          </a:p>
        </p:txBody>
      </p:sp>
      <p:sp>
        <p:nvSpPr>
          <p:cNvPr id="7" name="bt"/>
          <p:cNvSpPr txBox="1"/>
          <p:nvPr/>
        </p:nvSpPr>
        <p:spPr>
          <a:xfrm>
            <a:off x="4105656" y="1188720"/>
            <a:ext cx="3346704" cy="256032"/>
          </a:xfrm>
          <a:prstGeom prst="rect">
            <a:avLst/>
          </a:prstGeom>
          <a:noFill/>
          <a:ln/>
        </p:spPr>
        <p:txBody>
          <a:bodyPr wrap="square" lIns="0" tIns="0" rIns="0" bIns="0" rtlCol="0" anchor="ctr"/>
          <a:lstStyle/>
          <a:p>
            <a:pPr marL="0" indent="0" algn="ctr">
              <a:buNone/>
            </a:pPr>
            <a:r>
              <a:rPr lang="en-US" sz="1000" b="1" kern="0" spc="100" dirty="0">
                <a:solidFill>
                  <a:schemeClr val="bg1"/>
                </a:solidFill>
              </a:rPr>
              <a:t>SYNTHETIC · SAFE TO SEND</a:t>
            </a:r>
            <a:endParaRPr lang="en-US" sz="1000" dirty="0"/>
          </a:p>
        </p:txBody>
      </p:sp>
      <p:sp>
        <p:nvSpPr>
          <p:cNvPr id="8" name="animslow bar"/>
          <p:cNvSpPr/>
          <p:nvPr/>
        </p:nvSpPr>
        <p:spPr>
          <a:xfrm>
            <a:off x="7754112" y="1188720"/>
            <a:ext cx="914400" cy="256032"/>
          </a:xfrm>
          <a:prstGeom prst="rect">
            <a:avLst/>
          </a:prstGeom>
          <a:solidFill>
            <a:schemeClr val="accent3"/>
          </a:solidFill>
          <a:ln w="12700">
            <a:solidFill>
              <a:schemeClr val="bg1">
                <a:alpha val="0"/>
              </a:schemeClr>
            </a:solidFill>
            <a:prstDash val="solid"/>
          </a:ln>
        </p:spPr>
        <p:txBody>
          <a:bodyPr/>
          <a:lstStyle/>
          <a:p>
            <a:endParaRPr/>
          </a:p>
        </p:txBody>
      </p:sp>
      <p:sp>
        <p:nvSpPr>
          <p:cNvPr id="9" name="bt"/>
          <p:cNvSpPr txBox="1"/>
          <p:nvPr/>
        </p:nvSpPr>
        <p:spPr>
          <a:xfrm>
            <a:off x="7754112" y="1188720"/>
            <a:ext cx="914400" cy="256032"/>
          </a:xfrm>
          <a:prstGeom prst="rect">
            <a:avLst/>
          </a:prstGeom>
          <a:noFill/>
          <a:ln/>
        </p:spPr>
        <p:txBody>
          <a:bodyPr wrap="square" lIns="0" tIns="0" rIns="0" bIns="0" rtlCol="0" anchor="ctr"/>
          <a:lstStyle/>
          <a:p>
            <a:pPr marL="0" indent="0" algn="ctr">
              <a:buNone/>
            </a:pPr>
            <a:r>
              <a:rPr lang="en-US" sz="1000" b="1" kern="0" spc="100" dirty="0">
                <a:solidFill>
                  <a:schemeClr val="bg1"/>
                </a:solidFill>
              </a:rPr>
              <a:t>REAL</a:t>
            </a:r>
            <a:endParaRPr lang="en-US" sz="1000" dirty="0"/>
          </a:p>
        </p:txBody>
      </p:sp>
      <p:sp>
        <p:nvSpPr>
          <p:cNvPr id="10" name="animslow tile"/>
          <p:cNvSpPr/>
          <p:nvPr/>
        </p:nvSpPr>
        <p:spPr>
          <a:xfrm>
            <a:off x="457200" y="1554480"/>
            <a:ext cx="914400" cy="1143000"/>
          </a:xfrm>
          <a:prstGeom prst="rect">
            <a:avLst/>
          </a:prstGeom>
          <a:solidFill>
            <a:schemeClr val="bg2"/>
          </a:solidFill>
          <a:ln w="12700">
            <a:solidFill>
              <a:schemeClr val="bg1">
                <a:alpha val="0"/>
              </a:schemeClr>
            </a:solidFill>
            <a:prstDash val="solid"/>
          </a:ln>
        </p:spPr>
        <p:txBody>
          <a:bodyPr/>
          <a:lstStyle/>
          <a:p>
            <a:endParaRPr/>
          </a:p>
        </p:txBody>
      </p:sp>
      <p:sp>
        <p:nvSpPr>
          <p:cNvPr id="11" name="n"/>
          <p:cNvSpPr txBox="1"/>
          <p:nvPr/>
        </p:nvSpPr>
        <p:spPr>
          <a:xfrm>
            <a:off x="548640" y="1600200"/>
            <a:ext cx="731520" cy="365760"/>
          </a:xfrm>
          <a:prstGeom prst="rect">
            <a:avLst/>
          </a:prstGeom>
          <a:noFill/>
          <a:ln/>
        </p:spPr>
        <p:txBody>
          <a:bodyPr wrap="square" lIns="0" tIns="0" rIns="0" bIns="0" rtlCol="0" anchor="t"/>
          <a:lstStyle/>
          <a:p>
            <a:pPr marL="0" indent="0">
              <a:buNone/>
            </a:pPr>
            <a:r>
              <a:rPr lang="en-US" sz="2200" b="1" dirty="0">
                <a:solidFill>
                  <a:schemeClr val="accent1"/>
                </a:solidFill>
                <a:latin typeface="+mj-lt" pitchFamily="34" charset="0"/>
                <a:ea typeface="+mj-lt" pitchFamily="34" charset="-122"/>
                <a:cs typeface="+mj-lt" pitchFamily="34" charset="-120"/>
              </a:rPr>
              <a:t>1</a:t>
            </a:r>
            <a:endParaRPr lang="en-US" sz="2200" dirty="0"/>
          </a:p>
        </p:txBody>
      </p:sp>
      <p:sp>
        <p:nvSpPr>
          <p:cNvPr id="12" name="tt"/>
          <p:cNvSpPr txBox="1"/>
          <p:nvPr/>
        </p:nvSpPr>
        <p:spPr>
          <a:xfrm>
            <a:off x="548640" y="1965960"/>
            <a:ext cx="777240" cy="457200"/>
          </a:xfrm>
          <a:prstGeom prst="rect">
            <a:avLst/>
          </a:prstGeom>
          <a:noFill/>
          <a:ln/>
        </p:spPr>
        <p:txBody>
          <a:bodyPr wrap="square" lIns="0" tIns="0" rIns="0" bIns="0" rtlCol="0" anchor="t"/>
          <a:lstStyle/>
          <a:p>
            <a:pPr marL="0" indent="0">
              <a:buNone/>
            </a:pPr>
            <a:r>
              <a:rPr lang="en-US" sz="1200" b="1" dirty="0">
                <a:solidFill>
                  <a:schemeClr val="tx1"/>
                </a:solidFill>
              </a:rPr>
              <a:t>Snapshot</a:t>
            </a:r>
            <a:endParaRPr lang="en-US" sz="1200" dirty="0"/>
          </a:p>
        </p:txBody>
      </p:sp>
      <p:sp>
        <p:nvSpPr>
          <p:cNvPr id="13" name="o"/>
          <p:cNvSpPr txBox="1"/>
          <p:nvPr/>
        </p:nvSpPr>
        <p:spPr>
          <a:xfrm>
            <a:off x="548640" y="2468880"/>
            <a:ext cx="777240" cy="182880"/>
          </a:xfrm>
          <a:prstGeom prst="rect">
            <a:avLst/>
          </a:prstGeom>
          <a:noFill/>
          <a:ln/>
        </p:spPr>
        <p:txBody>
          <a:bodyPr wrap="square" lIns="0" tIns="0" rIns="0" bIns="0" rtlCol="0" anchor="t"/>
          <a:lstStyle/>
          <a:p>
            <a:pPr marL="0" indent="0">
              <a:buNone/>
            </a:pPr>
            <a:r>
              <a:rPr lang="en-US" sz="900" dirty="0">
                <a:solidFill>
                  <a:schemeClr val="accent4"/>
                </a:solidFill>
              </a:rPr>
              <a:t>P1</a:t>
            </a:r>
            <a:endParaRPr lang="en-US" sz="900" dirty="0"/>
          </a:p>
        </p:txBody>
      </p:sp>
      <p:sp>
        <p:nvSpPr>
          <p:cNvPr id="14" name="animslowarr"/>
          <p:cNvSpPr/>
          <p:nvPr/>
        </p:nvSpPr>
        <p:spPr>
          <a:xfrm>
            <a:off x="1389888" y="1965960"/>
            <a:ext cx="265176" cy="274320"/>
          </a:xfrm>
          <a:prstGeom prst="rightArrow">
            <a:avLst/>
          </a:prstGeom>
          <a:solidFill>
            <a:schemeClr val="accent3"/>
          </a:solidFill>
          <a:ln w="12700">
            <a:solidFill>
              <a:schemeClr val="accent3"/>
            </a:solidFill>
            <a:prstDash val="solid"/>
          </a:ln>
        </p:spPr>
        <p:txBody>
          <a:bodyPr/>
          <a:lstStyle/>
          <a:p>
            <a:endParaRPr/>
          </a:p>
        </p:txBody>
      </p:sp>
      <p:sp>
        <p:nvSpPr>
          <p:cNvPr id="15" name="animslow tile"/>
          <p:cNvSpPr/>
          <p:nvPr/>
        </p:nvSpPr>
        <p:spPr>
          <a:xfrm>
            <a:off x="1673352" y="1554480"/>
            <a:ext cx="914400" cy="1143000"/>
          </a:xfrm>
          <a:prstGeom prst="rect">
            <a:avLst/>
          </a:prstGeom>
          <a:solidFill>
            <a:schemeClr val="bg2"/>
          </a:solidFill>
          <a:ln w="12700">
            <a:solidFill>
              <a:schemeClr val="bg1">
                <a:alpha val="0"/>
              </a:schemeClr>
            </a:solidFill>
            <a:prstDash val="solid"/>
          </a:ln>
        </p:spPr>
        <p:txBody>
          <a:bodyPr/>
          <a:lstStyle/>
          <a:p>
            <a:endParaRPr/>
          </a:p>
        </p:txBody>
      </p:sp>
      <p:sp>
        <p:nvSpPr>
          <p:cNvPr id="16" name="n"/>
          <p:cNvSpPr txBox="1"/>
          <p:nvPr/>
        </p:nvSpPr>
        <p:spPr>
          <a:xfrm>
            <a:off x="1764792" y="1600200"/>
            <a:ext cx="731520" cy="365760"/>
          </a:xfrm>
          <a:prstGeom prst="rect">
            <a:avLst/>
          </a:prstGeom>
          <a:noFill/>
          <a:ln/>
        </p:spPr>
        <p:txBody>
          <a:bodyPr wrap="square" lIns="0" tIns="0" rIns="0" bIns="0" rtlCol="0" anchor="t"/>
          <a:lstStyle/>
          <a:p>
            <a:pPr marL="0" indent="0">
              <a:buNone/>
            </a:pPr>
            <a:r>
              <a:rPr lang="en-US" sz="2200" b="1" dirty="0">
                <a:solidFill>
                  <a:schemeClr val="accent1"/>
                </a:solidFill>
                <a:latin typeface="+mj-lt" pitchFamily="34" charset="0"/>
                <a:ea typeface="+mj-lt" pitchFamily="34" charset="-122"/>
                <a:cs typeface="+mj-lt" pitchFamily="34" charset="-120"/>
              </a:rPr>
              <a:t>2</a:t>
            </a:r>
            <a:endParaRPr lang="en-US" sz="2200" dirty="0"/>
          </a:p>
        </p:txBody>
      </p:sp>
      <p:sp>
        <p:nvSpPr>
          <p:cNvPr id="17" name="tt"/>
          <p:cNvSpPr txBox="1"/>
          <p:nvPr/>
        </p:nvSpPr>
        <p:spPr>
          <a:xfrm>
            <a:off x="1764792" y="1965960"/>
            <a:ext cx="777240" cy="457200"/>
          </a:xfrm>
          <a:prstGeom prst="rect">
            <a:avLst/>
          </a:prstGeom>
          <a:noFill/>
          <a:ln/>
        </p:spPr>
        <p:txBody>
          <a:bodyPr wrap="square" lIns="0" tIns="0" rIns="0" bIns="0" rtlCol="0" anchor="t"/>
          <a:lstStyle/>
          <a:p>
            <a:pPr marL="0" indent="0">
              <a:buNone/>
            </a:pPr>
            <a:r>
              <a:rPr lang="en-US" sz="1200" b="1" dirty="0">
                <a:solidFill>
                  <a:schemeClr val="tx1"/>
                </a:solidFill>
              </a:rPr>
              <a:t>Detect</a:t>
            </a:r>
            <a:endParaRPr lang="en-US" sz="1200" dirty="0"/>
          </a:p>
        </p:txBody>
      </p:sp>
      <p:sp>
        <p:nvSpPr>
          <p:cNvPr id="18" name="o"/>
          <p:cNvSpPr txBox="1"/>
          <p:nvPr/>
        </p:nvSpPr>
        <p:spPr>
          <a:xfrm>
            <a:off x="1764792" y="2468880"/>
            <a:ext cx="777240" cy="182880"/>
          </a:xfrm>
          <a:prstGeom prst="rect">
            <a:avLst/>
          </a:prstGeom>
          <a:noFill/>
          <a:ln/>
        </p:spPr>
        <p:txBody>
          <a:bodyPr wrap="square" lIns="0" tIns="0" rIns="0" bIns="0" rtlCol="0" anchor="t"/>
          <a:lstStyle/>
          <a:p>
            <a:pPr marL="0" indent="0">
              <a:buNone/>
            </a:pPr>
            <a:r>
              <a:rPr lang="en-US" sz="900" dirty="0">
                <a:solidFill>
                  <a:schemeClr val="accent4"/>
                </a:solidFill>
              </a:rPr>
              <a:t>P2</a:t>
            </a:r>
            <a:endParaRPr lang="en-US" sz="900" dirty="0"/>
          </a:p>
        </p:txBody>
      </p:sp>
      <p:sp>
        <p:nvSpPr>
          <p:cNvPr id="19" name="animslowarr"/>
          <p:cNvSpPr/>
          <p:nvPr/>
        </p:nvSpPr>
        <p:spPr>
          <a:xfrm>
            <a:off x="2606040" y="1965960"/>
            <a:ext cx="265176" cy="274320"/>
          </a:xfrm>
          <a:prstGeom prst="rightArrow">
            <a:avLst/>
          </a:prstGeom>
          <a:solidFill>
            <a:schemeClr val="accent3"/>
          </a:solidFill>
          <a:ln w="12700">
            <a:solidFill>
              <a:schemeClr val="accent3"/>
            </a:solidFill>
            <a:prstDash val="solid"/>
          </a:ln>
        </p:spPr>
        <p:txBody>
          <a:bodyPr/>
          <a:lstStyle/>
          <a:p>
            <a:endParaRPr/>
          </a:p>
        </p:txBody>
      </p:sp>
      <p:sp>
        <p:nvSpPr>
          <p:cNvPr id="20" name="animslow tile"/>
          <p:cNvSpPr/>
          <p:nvPr/>
        </p:nvSpPr>
        <p:spPr>
          <a:xfrm>
            <a:off x="2889504" y="1554480"/>
            <a:ext cx="914400" cy="1143000"/>
          </a:xfrm>
          <a:prstGeom prst="rect">
            <a:avLst/>
          </a:prstGeom>
          <a:solidFill>
            <a:schemeClr val="bg2"/>
          </a:solidFill>
          <a:ln w="12700">
            <a:solidFill>
              <a:schemeClr val="bg1">
                <a:alpha val="0"/>
              </a:schemeClr>
            </a:solidFill>
            <a:prstDash val="solid"/>
          </a:ln>
        </p:spPr>
        <p:txBody>
          <a:bodyPr/>
          <a:lstStyle/>
          <a:p>
            <a:endParaRPr/>
          </a:p>
        </p:txBody>
      </p:sp>
      <p:sp>
        <p:nvSpPr>
          <p:cNvPr id="21" name="n"/>
          <p:cNvSpPr txBox="1"/>
          <p:nvPr/>
        </p:nvSpPr>
        <p:spPr>
          <a:xfrm>
            <a:off x="2980944" y="1600200"/>
            <a:ext cx="731520" cy="365760"/>
          </a:xfrm>
          <a:prstGeom prst="rect">
            <a:avLst/>
          </a:prstGeom>
          <a:noFill/>
          <a:ln/>
        </p:spPr>
        <p:txBody>
          <a:bodyPr wrap="square" lIns="0" tIns="0" rIns="0" bIns="0" rtlCol="0" anchor="t"/>
          <a:lstStyle/>
          <a:p>
            <a:pPr marL="0" indent="0">
              <a:buNone/>
            </a:pPr>
            <a:r>
              <a:rPr lang="en-US" sz="2200" b="1" dirty="0">
                <a:solidFill>
                  <a:schemeClr val="accent1"/>
                </a:solidFill>
                <a:latin typeface="+mj-lt" pitchFamily="34" charset="0"/>
                <a:ea typeface="+mj-lt" pitchFamily="34" charset="-122"/>
                <a:cs typeface="+mj-lt" pitchFamily="34" charset="-120"/>
              </a:rPr>
              <a:t>3</a:t>
            </a:r>
            <a:endParaRPr lang="en-US" sz="2200" dirty="0"/>
          </a:p>
        </p:txBody>
      </p:sp>
      <p:sp>
        <p:nvSpPr>
          <p:cNvPr id="22" name="tt"/>
          <p:cNvSpPr txBox="1"/>
          <p:nvPr/>
        </p:nvSpPr>
        <p:spPr>
          <a:xfrm>
            <a:off x="2980944" y="1965960"/>
            <a:ext cx="777240" cy="457200"/>
          </a:xfrm>
          <a:prstGeom prst="rect">
            <a:avLst/>
          </a:prstGeom>
          <a:noFill/>
          <a:ln/>
        </p:spPr>
        <p:txBody>
          <a:bodyPr wrap="square" lIns="0" tIns="0" rIns="0" bIns="0" rtlCol="0" anchor="t"/>
          <a:lstStyle/>
          <a:p>
            <a:pPr marL="0" indent="0">
              <a:buNone/>
            </a:pPr>
            <a:r>
              <a:rPr lang="en-US" sz="1200" b="1" dirty="0">
                <a:solidFill>
                  <a:schemeClr val="tx1"/>
                </a:solidFill>
              </a:rPr>
              <a:t>Swap &amp; sanitize</a:t>
            </a:r>
            <a:endParaRPr lang="en-US" sz="1200" dirty="0"/>
          </a:p>
        </p:txBody>
      </p:sp>
      <p:sp>
        <p:nvSpPr>
          <p:cNvPr id="23" name="o"/>
          <p:cNvSpPr txBox="1"/>
          <p:nvPr/>
        </p:nvSpPr>
        <p:spPr>
          <a:xfrm>
            <a:off x="2980944" y="2468880"/>
            <a:ext cx="777240" cy="182880"/>
          </a:xfrm>
          <a:prstGeom prst="rect">
            <a:avLst/>
          </a:prstGeom>
          <a:noFill/>
          <a:ln/>
        </p:spPr>
        <p:txBody>
          <a:bodyPr wrap="square" lIns="0" tIns="0" rIns="0" bIns="0" rtlCol="0" anchor="t"/>
          <a:lstStyle/>
          <a:p>
            <a:pPr marL="0" indent="0">
              <a:buNone/>
            </a:pPr>
            <a:r>
              <a:rPr lang="en-US" sz="900" dirty="0">
                <a:solidFill>
                  <a:schemeClr val="accent4"/>
                </a:solidFill>
              </a:rPr>
              <a:t>P2 · P3</a:t>
            </a:r>
            <a:endParaRPr lang="en-US" sz="900" dirty="0"/>
          </a:p>
        </p:txBody>
      </p:sp>
      <p:sp>
        <p:nvSpPr>
          <p:cNvPr id="24" name="animslowarr"/>
          <p:cNvSpPr/>
          <p:nvPr/>
        </p:nvSpPr>
        <p:spPr>
          <a:xfrm>
            <a:off x="3822192" y="1965960"/>
            <a:ext cx="265176" cy="274320"/>
          </a:xfrm>
          <a:prstGeom prst="rightArrow">
            <a:avLst/>
          </a:prstGeom>
          <a:solidFill>
            <a:schemeClr val="accent2"/>
          </a:solidFill>
          <a:ln w="12700">
            <a:solidFill>
              <a:schemeClr val="accent2"/>
            </a:solidFill>
            <a:prstDash val="solid"/>
          </a:ln>
        </p:spPr>
        <p:txBody>
          <a:bodyPr/>
          <a:lstStyle/>
          <a:p>
            <a:endParaRPr/>
          </a:p>
        </p:txBody>
      </p:sp>
      <p:sp>
        <p:nvSpPr>
          <p:cNvPr id="25" name="animslow tile"/>
          <p:cNvSpPr/>
          <p:nvPr/>
        </p:nvSpPr>
        <p:spPr>
          <a:xfrm>
            <a:off x="4105656" y="1554480"/>
            <a:ext cx="914400" cy="1143000"/>
          </a:xfrm>
          <a:prstGeom prst="rect">
            <a:avLst/>
          </a:prstGeom>
          <a:solidFill>
            <a:schemeClr val="bg2"/>
          </a:solidFill>
          <a:ln w="25400">
            <a:solidFill>
              <a:schemeClr val="accent3"/>
            </a:solidFill>
            <a:prstDash val="solid"/>
          </a:ln>
        </p:spPr>
        <p:txBody>
          <a:bodyPr/>
          <a:lstStyle/>
          <a:p>
            <a:endParaRPr/>
          </a:p>
        </p:txBody>
      </p:sp>
      <p:sp>
        <p:nvSpPr>
          <p:cNvPr id="26" name="n"/>
          <p:cNvSpPr txBox="1"/>
          <p:nvPr/>
        </p:nvSpPr>
        <p:spPr>
          <a:xfrm>
            <a:off x="4197096" y="1600200"/>
            <a:ext cx="731520" cy="365760"/>
          </a:xfrm>
          <a:prstGeom prst="rect">
            <a:avLst/>
          </a:prstGeom>
          <a:noFill/>
          <a:ln/>
        </p:spPr>
        <p:txBody>
          <a:bodyPr wrap="square" lIns="0" tIns="0" rIns="0" bIns="0" rtlCol="0" anchor="t"/>
          <a:lstStyle/>
          <a:p>
            <a:pPr marL="0" indent="0">
              <a:buNone/>
            </a:pPr>
            <a:r>
              <a:rPr lang="en-US" sz="2200" b="1" dirty="0">
                <a:solidFill>
                  <a:schemeClr val="accent1"/>
                </a:solidFill>
                <a:latin typeface="+mj-lt" pitchFamily="34" charset="0"/>
                <a:ea typeface="+mj-lt" pitchFamily="34" charset="-122"/>
                <a:cs typeface="+mj-lt" pitchFamily="34" charset="-120"/>
              </a:rPr>
              <a:t>4</a:t>
            </a:r>
            <a:endParaRPr lang="en-US" sz="2200" dirty="0"/>
          </a:p>
        </p:txBody>
      </p:sp>
      <p:sp>
        <p:nvSpPr>
          <p:cNvPr id="27" name="tt"/>
          <p:cNvSpPr txBox="1"/>
          <p:nvPr/>
        </p:nvSpPr>
        <p:spPr>
          <a:xfrm>
            <a:off x="4197096" y="1965960"/>
            <a:ext cx="777240" cy="457200"/>
          </a:xfrm>
          <a:prstGeom prst="rect">
            <a:avLst/>
          </a:prstGeom>
          <a:noFill/>
          <a:ln/>
        </p:spPr>
        <p:txBody>
          <a:bodyPr wrap="square" lIns="0" tIns="0" rIns="0" bIns="0" rtlCol="0" anchor="t"/>
          <a:lstStyle/>
          <a:p>
            <a:pPr marL="0" indent="0">
              <a:buNone/>
            </a:pPr>
            <a:r>
              <a:rPr lang="en-US" sz="1200" b="1" dirty="0">
                <a:solidFill>
                  <a:schemeClr val="tx1"/>
                </a:solidFill>
              </a:rPr>
              <a:t>Egress firewall</a:t>
            </a:r>
            <a:endParaRPr lang="en-US" sz="1200" dirty="0"/>
          </a:p>
        </p:txBody>
      </p:sp>
      <p:sp>
        <p:nvSpPr>
          <p:cNvPr id="28" name="o"/>
          <p:cNvSpPr txBox="1"/>
          <p:nvPr/>
        </p:nvSpPr>
        <p:spPr>
          <a:xfrm>
            <a:off x="4197096" y="2468880"/>
            <a:ext cx="777240" cy="182880"/>
          </a:xfrm>
          <a:prstGeom prst="rect">
            <a:avLst/>
          </a:prstGeom>
          <a:noFill/>
          <a:ln/>
        </p:spPr>
        <p:txBody>
          <a:bodyPr wrap="square" lIns="0" tIns="0" rIns="0" bIns="0" rtlCol="0" anchor="t"/>
          <a:lstStyle/>
          <a:p>
            <a:pPr marL="0" indent="0">
              <a:buNone/>
            </a:pPr>
            <a:r>
              <a:rPr lang="en-US" sz="900" dirty="0">
                <a:solidFill>
                  <a:schemeClr val="accent4"/>
                </a:solidFill>
              </a:rPr>
              <a:t>P3</a:t>
            </a:r>
            <a:endParaRPr lang="en-US" sz="900" dirty="0"/>
          </a:p>
        </p:txBody>
      </p:sp>
      <p:sp>
        <p:nvSpPr>
          <p:cNvPr id="29" name="animslowarr"/>
          <p:cNvSpPr/>
          <p:nvPr/>
        </p:nvSpPr>
        <p:spPr>
          <a:xfrm>
            <a:off x="5038344" y="1965960"/>
            <a:ext cx="265176" cy="274320"/>
          </a:xfrm>
          <a:prstGeom prst="rightArrow">
            <a:avLst/>
          </a:prstGeom>
          <a:solidFill>
            <a:schemeClr val="accent2"/>
          </a:solidFill>
          <a:ln w="12700">
            <a:solidFill>
              <a:schemeClr val="accent2"/>
            </a:solidFill>
            <a:prstDash val="solid"/>
          </a:ln>
        </p:spPr>
        <p:txBody>
          <a:bodyPr/>
          <a:lstStyle/>
          <a:p>
            <a:endParaRPr/>
          </a:p>
        </p:txBody>
      </p:sp>
      <p:sp>
        <p:nvSpPr>
          <p:cNvPr id="30" name="animslow tile"/>
          <p:cNvSpPr/>
          <p:nvPr/>
        </p:nvSpPr>
        <p:spPr>
          <a:xfrm>
            <a:off x="5321808" y="1554480"/>
            <a:ext cx="914400" cy="1143000"/>
          </a:xfrm>
          <a:prstGeom prst="rect">
            <a:avLst/>
          </a:prstGeom>
          <a:solidFill>
            <a:schemeClr val="bg2"/>
          </a:solidFill>
          <a:ln w="12700">
            <a:solidFill>
              <a:schemeClr val="bg1">
                <a:alpha val="0"/>
              </a:schemeClr>
            </a:solidFill>
            <a:prstDash val="solid"/>
          </a:ln>
        </p:spPr>
        <p:txBody>
          <a:bodyPr/>
          <a:lstStyle/>
          <a:p>
            <a:endParaRPr/>
          </a:p>
        </p:txBody>
      </p:sp>
      <p:sp>
        <p:nvSpPr>
          <p:cNvPr id="31" name="n"/>
          <p:cNvSpPr txBox="1"/>
          <p:nvPr/>
        </p:nvSpPr>
        <p:spPr>
          <a:xfrm>
            <a:off x="5413248" y="1600200"/>
            <a:ext cx="731520" cy="365760"/>
          </a:xfrm>
          <a:prstGeom prst="rect">
            <a:avLst/>
          </a:prstGeom>
          <a:noFill/>
          <a:ln/>
        </p:spPr>
        <p:txBody>
          <a:bodyPr wrap="square" lIns="0" tIns="0" rIns="0" bIns="0" rtlCol="0" anchor="t"/>
          <a:lstStyle/>
          <a:p>
            <a:pPr marL="0" indent="0">
              <a:buNone/>
            </a:pPr>
            <a:r>
              <a:rPr lang="en-US" sz="2200" b="1" dirty="0">
                <a:solidFill>
                  <a:schemeClr val="accent1"/>
                </a:solidFill>
                <a:latin typeface="+mj-lt" pitchFamily="34" charset="0"/>
                <a:ea typeface="+mj-lt" pitchFamily="34" charset="-122"/>
                <a:cs typeface="+mj-lt" pitchFamily="34" charset="-120"/>
              </a:rPr>
              <a:t>5</a:t>
            </a:r>
            <a:endParaRPr lang="en-US" sz="2200" dirty="0"/>
          </a:p>
        </p:txBody>
      </p:sp>
      <p:sp>
        <p:nvSpPr>
          <p:cNvPr id="32" name="tt"/>
          <p:cNvSpPr txBox="1"/>
          <p:nvPr/>
        </p:nvSpPr>
        <p:spPr>
          <a:xfrm>
            <a:off x="5413248" y="1965960"/>
            <a:ext cx="777240" cy="457200"/>
          </a:xfrm>
          <a:prstGeom prst="rect">
            <a:avLst/>
          </a:prstGeom>
          <a:noFill/>
          <a:ln/>
        </p:spPr>
        <p:txBody>
          <a:bodyPr wrap="square" lIns="0" tIns="0" rIns="0" bIns="0" rtlCol="0" anchor="t"/>
          <a:lstStyle/>
          <a:p>
            <a:pPr marL="0" indent="0">
              <a:buNone/>
            </a:pPr>
            <a:r>
              <a:rPr lang="en-US" sz="1200" b="1" dirty="0">
                <a:solidFill>
                  <a:schemeClr val="tx1"/>
                </a:solidFill>
              </a:rPr>
              <a:t>Reason</a:t>
            </a:r>
            <a:endParaRPr lang="en-US" sz="1200" dirty="0"/>
          </a:p>
        </p:txBody>
      </p:sp>
      <p:sp>
        <p:nvSpPr>
          <p:cNvPr id="33" name="o"/>
          <p:cNvSpPr txBox="1"/>
          <p:nvPr/>
        </p:nvSpPr>
        <p:spPr>
          <a:xfrm>
            <a:off x="5413248" y="2468880"/>
            <a:ext cx="777240" cy="182880"/>
          </a:xfrm>
          <a:prstGeom prst="rect">
            <a:avLst/>
          </a:prstGeom>
          <a:noFill/>
          <a:ln/>
        </p:spPr>
        <p:txBody>
          <a:bodyPr wrap="square" lIns="0" tIns="0" rIns="0" bIns="0" rtlCol="0" anchor="t"/>
          <a:lstStyle/>
          <a:p>
            <a:pPr marL="0" indent="0">
              <a:buNone/>
            </a:pPr>
            <a:r>
              <a:rPr lang="en-US" sz="900" dirty="0">
                <a:solidFill>
                  <a:schemeClr val="accent4"/>
                </a:solidFill>
              </a:rPr>
              <a:t>P4</a:t>
            </a:r>
            <a:endParaRPr lang="en-US" sz="900" dirty="0"/>
          </a:p>
        </p:txBody>
      </p:sp>
      <p:sp>
        <p:nvSpPr>
          <p:cNvPr id="34" name="animslowarr"/>
          <p:cNvSpPr/>
          <p:nvPr/>
        </p:nvSpPr>
        <p:spPr>
          <a:xfrm>
            <a:off x="6254496" y="1965960"/>
            <a:ext cx="265176" cy="274320"/>
          </a:xfrm>
          <a:prstGeom prst="rightArrow">
            <a:avLst/>
          </a:prstGeom>
          <a:solidFill>
            <a:schemeClr val="accent2"/>
          </a:solidFill>
          <a:ln w="12700">
            <a:solidFill>
              <a:schemeClr val="accent2"/>
            </a:solidFill>
            <a:prstDash val="solid"/>
          </a:ln>
        </p:spPr>
        <p:txBody>
          <a:bodyPr/>
          <a:lstStyle/>
          <a:p>
            <a:endParaRPr/>
          </a:p>
        </p:txBody>
      </p:sp>
      <p:sp>
        <p:nvSpPr>
          <p:cNvPr id="35" name="animslow tile"/>
          <p:cNvSpPr/>
          <p:nvPr/>
        </p:nvSpPr>
        <p:spPr>
          <a:xfrm>
            <a:off x="6537960" y="1554480"/>
            <a:ext cx="914400" cy="1143000"/>
          </a:xfrm>
          <a:prstGeom prst="rect">
            <a:avLst/>
          </a:prstGeom>
          <a:solidFill>
            <a:schemeClr val="bg2"/>
          </a:solidFill>
          <a:ln w="12700">
            <a:solidFill>
              <a:schemeClr val="bg1">
                <a:alpha val="0"/>
              </a:schemeClr>
            </a:solidFill>
            <a:prstDash val="solid"/>
          </a:ln>
        </p:spPr>
        <p:txBody>
          <a:bodyPr/>
          <a:lstStyle/>
          <a:p>
            <a:endParaRPr/>
          </a:p>
        </p:txBody>
      </p:sp>
      <p:sp>
        <p:nvSpPr>
          <p:cNvPr id="36" name="n"/>
          <p:cNvSpPr txBox="1"/>
          <p:nvPr/>
        </p:nvSpPr>
        <p:spPr>
          <a:xfrm>
            <a:off x="6629400" y="1600200"/>
            <a:ext cx="731520" cy="365760"/>
          </a:xfrm>
          <a:prstGeom prst="rect">
            <a:avLst/>
          </a:prstGeom>
          <a:noFill/>
          <a:ln/>
        </p:spPr>
        <p:txBody>
          <a:bodyPr wrap="square" lIns="0" tIns="0" rIns="0" bIns="0" rtlCol="0" anchor="t"/>
          <a:lstStyle/>
          <a:p>
            <a:pPr marL="0" indent="0">
              <a:buNone/>
            </a:pPr>
            <a:r>
              <a:rPr lang="en-US" sz="2200" b="1" dirty="0">
                <a:solidFill>
                  <a:schemeClr val="accent1"/>
                </a:solidFill>
                <a:latin typeface="+mj-lt" pitchFamily="34" charset="0"/>
                <a:ea typeface="+mj-lt" pitchFamily="34" charset="-122"/>
                <a:cs typeface="+mj-lt" pitchFamily="34" charset="-120"/>
              </a:rPr>
              <a:t>6</a:t>
            </a:r>
            <a:endParaRPr lang="en-US" sz="2200" dirty="0"/>
          </a:p>
        </p:txBody>
      </p:sp>
      <p:sp>
        <p:nvSpPr>
          <p:cNvPr id="37" name="tt"/>
          <p:cNvSpPr txBox="1"/>
          <p:nvPr/>
        </p:nvSpPr>
        <p:spPr>
          <a:xfrm>
            <a:off x="6629400" y="1965960"/>
            <a:ext cx="777240" cy="457200"/>
          </a:xfrm>
          <a:prstGeom prst="rect">
            <a:avLst/>
          </a:prstGeom>
          <a:noFill/>
          <a:ln/>
        </p:spPr>
        <p:txBody>
          <a:bodyPr wrap="square" lIns="0" tIns="0" rIns="0" bIns="0" rtlCol="0" anchor="t"/>
          <a:lstStyle/>
          <a:p>
            <a:pPr marL="0" indent="0">
              <a:buNone/>
            </a:pPr>
            <a:r>
              <a:rPr lang="en-US" sz="1200" b="1" dirty="0">
                <a:solidFill>
                  <a:schemeClr val="tx1"/>
                </a:solidFill>
              </a:rPr>
              <a:t>Validate</a:t>
            </a:r>
            <a:endParaRPr lang="en-US" sz="1200" dirty="0"/>
          </a:p>
        </p:txBody>
      </p:sp>
      <p:sp>
        <p:nvSpPr>
          <p:cNvPr id="38" name="o"/>
          <p:cNvSpPr txBox="1"/>
          <p:nvPr/>
        </p:nvSpPr>
        <p:spPr>
          <a:xfrm>
            <a:off x="6629400" y="2468880"/>
            <a:ext cx="777240" cy="182880"/>
          </a:xfrm>
          <a:prstGeom prst="rect">
            <a:avLst/>
          </a:prstGeom>
          <a:noFill/>
          <a:ln/>
        </p:spPr>
        <p:txBody>
          <a:bodyPr wrap="square" lIns="0" tIns="0" rIns="0" bIns="0" rtlCol="0" anchor="t"/>
          <a:lstStyle/>
          <a:p>
            <a:pPr marL="0" indent="0">
              <a:buNone/>
            </a:pPr>
            <a:r>
              <a:rPr lang="en-US" sz="900" dirty="0">
                <a:solidFill>
                  <a:schemeClr val="accent4"/>
                </a:solidFill>
              </a:rPr>
              <a:t>P1 · P4</a:t>
            </a:r>
            <a:endParaRPr lang="en-US" sz="900" dirty="0"/>
          </a:p>
        </p:txBody>
      </p:sp>
      <p:sp>
        <p:nvSpPr>
          <p:cNvPr id="39" name="animslowarr"/>
          <p:cNvSpPr/>
          <p:nvPr/>
        </p:nvSpPr>
        <p:spPr>
          <a:xfrm>
            <a:off x="7470648" y="1965960"/>
            <a:ext cx="265176" cy="274320"/>
          </a:xfrm>
          <a:prstGeom prst="rightArrow">
            <a:avLst/>
          </a:prstGeom>
          <a:solidFill>
            <a:schemeClr val="accent1"/>
          </a:solidFill>
          <a:ln w="12700">
            <a:solidFill>
              <a:schemeClr val="accent1"/>
            </a:solidFill>
            <a:prstDash val="solid"/>
          </a:ln>
        </p:spPr>
        <p:txBody>
          <a:bodyPr/>
          <a:lstStyle/>
          <a:p>
            <a:endParaRPr/>
          </a:p>
        </p:txBody>
      </p:sp>
      <p:sp>
        <p:nvSpPr>
          <p:cNvPr id="40" name="animslow tile"/>
          <p:cNvSpPr/>
          <p:nvPr/>
        </p:nvSpPr>
        <p:spPr>
          <a:xfrm>
            <a:off x="7754112" y="1554480"/>
            <a:ext cx="914400" cy="1143000"/>
          </a:xfrm>
          <a:prstGeom prst="rect">
            <a:avLst/>
          </a:prstGeom>
          <a:solidFill>
            <a:schemeClr val="bg2"/>
          </a:solidFill>
          <a:ln w="12700">
            <a:solidFill>
              <a:schemeClr val="bg1">
                <a:alpha val="0"/>
              </a:schemeClr>
            </a:solidFill>
            <a:prstDash val="solid"/>
          </a:ln>
        </p:spPr>
        <p:txBody>
          <a:bodyPr/>
          <a:lstStyle/>
          <a:p>
            <a:endParaRPr/>
          </a:p>
        </p:txBody>
      </p:sp>
      <p:sp>
        <p:nvSpPr>
          <p:cNvPr id="41" name="n"/>
          <p:cNvSpPr txBox="1"/>
          <p:nvPr/>
        </p:nvSpPr>
        <p:spPr>
          <a:xfrm>
            <a:off x="7845552" y="1600200"/>
            <a:ext cx="731520" cy="365760"/>
          </a:xfrm>
          <a:prstGeom prst="rect">
            <a:avLst/>
          </a:prstGeom>
          <a:noFill/>
          <a:ln/>
        </p:spPr>
        <p:txBody>
          <a:bodyPr wrap="square" lIns="0" tIns="0" rIns="0" bIns="0" rtlCol="0" anchor="t"/>
          <a:lstStyle/>
          <a:p>
            <a:pPr marL="0" indent="0">
              <a:buNone/>
            </a:pPr>
            <a:r>
              <a:rPr lang="en-US" sz="2200" b="1" dirty="0">
                <a:solidFill>
                  <a:schemeClr val="accent1"/>
                </a:solidFill>
                <a:latin typeface="+mj-lt" pitchFamily="34" charset="0"/>
                <a:ea typeface="+mj-lt" pitchFamily="34" charset="-122"/>
                <a:cs typeface="+mj-lt" pitchFamily="34" charset="-120"/>
              </a:rPr>
              <a:t>7</a:t>
            </a:r>
            <a:endParaRPr lang="en-US" sz="2200" dirty="0"/>
          </a:p>
        </p:txBody>
      </p:sp>
      <p:sp>
        <p:nvSpPr>
          <p:cNvPr id="42" name="tt"/>
          <p:cNvSpPr txBox="1"/>
          <p:nvPr/>
        </p:nvSpPr>
        <p:spPr>
          <a:xfrm>
            <a:off x="7845552" y="1965960"/>
            <a:ext cx="777240" cy="457200"/>
          </a:xfrm>
          <a:prstGeom prst="rect">
            <a:avLst/>
          </a:prstGeom>
          <a:noFill/>
          <a:ln/>
        </p:spPr>
        <p:txBody>
          <a:bodyPr wrap="square" lIns="0" tIns="0" rIns="0" bIns="0" rtlCol="0" anchor="t"/>
          <a:lstStyle/>
          <a:p>
            <a:pPr marL="0" indent="0">
              <a:buNone/>
            </a:pPr>
            <a:r>
              <a:rPr lang="en-US" sz="1200" b="1" dirty="0">
                <a:solidFill>
                  <a:schemeClr val="tx1"/>
                </a:solidFill>
              </a:rPr>
              <a:t>Restore &amp; execute</a:t>
            </a:r>
            <a:endParaRPr lang="en-US" sz="1200" dirty="0"/>
          </a:p>
        </p:txBody>
      </p:sp>
      <p:sp>
        <p:nvSpPr>
          <p:cNvPr id="43" name="o"/>
          <p:cNvSpPr txBox="1"/>
          <p:nvPr/>
        </p:nvSpPr>
        <p:spPr>
          <a:xfrm>
            <a:off x="7845552" y="2468880"/>
            <a:ext cx="777240" cy="182880"/>
          </a:xfrm>
          <a:prstGeom prst="rect">
            <a:avLst/>
          </a:prstGeom>
          <a:noFill/>
          <a:ln/>
        </p:spPr>
        <p:txBody>
          <a:bodyPr wrap="square" lIns="0" tIns="0" rIns="0" bIns="0" rtlCol="0" anchor="t"/>
          <a:lstStyle/>
          <a:p>
            <a:pPr marL="0" indent="0">
              <a:buNone/>
            </a:pPr>
            <a:r>
              <a:rPr lang="en-US" sz="900" dirty="0">
                <a:solidFill>
                  <a:schemeClr val="accent4"/>
                </a:solidFill>
              </a:rPr>
              <a:t>P1</a:t>
            </a:r>
            <a:endParaRPr lang="en-US" sz="900" dirty="0"/>
          </a:p>
        </p:txBody>
      </p:sp>
      <p:sp>
        <p:nvSpPr>
          <p:cNvPr id="44" name="animslow br"/>
          <p:cNvSpPr/>
          <p:nvPr/>
        </p:nvSpPr>
        <p:spPr>
          <a:xfrm>
            <a:off x="4562856" y="2697480"/>
            <a:ext cx="0" cy="274320"/>
          </a:xfrm>
          <a:prstGeom prst="line">
            <a:avLst/>
          </a:prstGeom>
          <a:noFill/>
          <a:ln w="28575">
            <a:solidFill>
              <a:schemeClr val="accent3"/>
            </a:solidFill>
            <a:prstDash val="dash"/>
          </a:ln>
        </p:spPr>
        <p:txBody>
          <a:bodyPr/>
          <a:lstStyle/>
          <a:p>
            <a:endParaRPr/>
          </a:p>
        </p:txBody>
      </p:sp>
      <p:sp>
        <p:nvSpPr>
          <p:cNvPr id="45" name="animslow blk"/>
          <p:cNvSpPr/>
          <p:nvPr/>
        </p:nvSpPr>
        <p:spPr>
          <a:xfrm>
            <a:off x="2743200" y="2971800"/>
            <a:ext cx="3657600" cy="457200"/>
          </a:xfrm>
          <a:prstGeom prst="roundRect">
            <a:avLst>
              <a:gd name="adj" fmla="val 16000"/>
            </a:avLst>
          </a:prstGeom>
          <a:solidFill>
            <a:schemeClr val="accent3">
              <a:alpha val="12000"/>
            </a:schemeClr>
          </a:solidFill>
          <a:ln w="12700">
            <a:solidFill>
              <a:schemeClr val="accent3"/>
            </a:solidFill>
            <a:prstDash val="solid"/>
          </a:ln>
        </p:spPr>
        <p:txBody>
          <a:bodyPr/>
          <a:lstStyle/>
          <a:p>
            <a:endParaRPr/>
          </a:p>
        </p:txBody>
      </p:sp>
      <p:sp>
        <p:nvSpPr>
          <p:cNvPr id="46" name="bk"/>
          <p:cNvSpPr txBox="1"/>
          <p:nvPr/>
        </p:nvSpPr>
        <p:spPr>
          <a:xfrm>
            <a:off x="2743200" y="2971800"/>
            <a:ext cx="3657600" cy="457200"/>
          </a:xfrm>
          <a:prstGeom prst="rect">
            <a:avLst/>
          </a:prstGeom>
          <a:noFill/>
          <a:ln/>
        </p:spPr>
        <p:txBody>
          <a:bodyPr wrap="square" lIns="0" tIns="0" rIns="0" bIns="0" rtlCol="0" anchor="ctr"/>
          <a:lstStyle/>
          <a:p>
            <a:pPr marL="0" indent="0" algn="ctr">
              <a:buNone/>
            </a:pPr>
            <a:r>
              <a:rPr lang="en-US" sz="1200" b="1" dirty="0">
                <a:solidFill>
                  <a:schemeClr val="accent3"/>
                </a:solidFill>
              </a:rPr>
              <a:t>Secret found? BLOCK + LOG. Nothing is sent.</a:t>
            </a:r>
            <a:endParaRPr lang="en-US" sz="1200" dirty="0"/>
          </a:p>
        </p:txBody>
      </p:sp>
      <p:sp>
        <p:nvSpPr>
          <p:cNvPr id="47" name="animslow"/>
          <p:cNvSpPr txBox="1"/>
          <p:nvPr/>
        </p:nvSpPr>
        <p:spPr>
          <a:xfrm>
            <a:off x="457200" y="3611880"/>
            <a:ext cx="2743200" cy="201168"/>
          </a:xfrm>
          <a:prstGeom prst="rect">
            <a:avLst/>
          </a:prstGeom>
          <a:noFill/>
          <a:ln/>
        </p:spPr>
        <p:txBody>
          <a:bodyPr wrap="square" lIns="0" tIns="0" rIns="0" bIns="0" rtlCol="0" anchor="t"/>
          <a:lstStyle/>
          <a:p>
            <a:pPr marL="0" indent="0">
              <a:buNone/>
            </a:pPr>
            <a:r>
              <a:rPr lang="en-US" sz="1000" b="1" kern="0" spc="200" dirty="0">
                <a:solidFill>
                  <a:schemeClr val="accent4"/>
                </a:solidFill>
              </a:rPr>
              <a:t>FOLLOW ONE VALUE</a:t>
            </a:r>
            <a:endParaRPr lang="en-US" sz="1000" dirty="0"/>
          </a:p>
        </p:txBody>
      </p:sp>
      <p:sp>
        <p:nvSpPr>
          <p:cNvPr id="48" name="animslow chip"/>
          <p:cNvSpPr/>
          <p:nvPr/>
        </p:nvSpPr>
        <p:spPr>
          <a:xfrm>
            <a:off x="457200" y="3840480"/>
            <a:ext cx="1737360" cy="411480"/>
          </a:xfrm>
          <a:prstGeom prst="roundRect">
            <a:avLst>
              <a:gd name="adj" fmla="val 17778"/>
            </a:avLst>
          </a:prstGeom>
          <a:solidFill>
            <a:schemeClr val="accent3">
              <a:alpha val="15000"/>
            </a:schemeClr>
          </a:solidFill>
          <a:ln w="12700">
            <a:solidFill>
              <a:schemeClr val="accent3"/>
            </a:solidFill>
            <a:prstDash val="solid"/>
          </a:ln>
        </p:spPr>
        <p:txBody>
          <a:bodyPr/>
          <a:lstStyle/>
          <a:p>
            <a:endParaRPr/>
          </a:p>
        </p:txBody>
      </p:sp>
      <p:sp>
        <p:nvSpPr>
          <p:cNvPr id="49" name="ct"/>
          <p:cNvSpPr txBox="1"/>
          <p:nvPr/>
        </p:nvSpPr>
        <p:spPr>
          <a:xfrm>
            <a:off x="457200" y="3840480"/>
            <a:ext cx="1737360" cy="411480"/>
          </a:xfrm>
          <a:prstGeom prst="rect">
            <a:avLst/>
          </a:prstGeom>
          <a:noFill/>
          <a:ln/>
        </p:spPr>
        <p:txBody>
          <a:bodyPr wrap="square" lIns="0" tIns="0" rIns="0" bIns="0" rtlCol="0" anchor="ctr"/>
          <a:lstStyle/>
          <a:p>
            <a:pPr marL="0" indent="0" algn="ctr">
              <a:buNone/>
            </a:pPr>
            <a:r>
              <a:rPr lang="en-US" sz="1100" b="1" dirty="0">
                <a:solidFill>
                  <a:schemeClr val="accent3"/>
                </a:solidFill>
              </a:rPr>
              <a:t>john.doe@company.com</a:t>
            </a:r>
            <a:endParaRPr lang="en-US" sz="1100" dirty="0"/>
          </a:p>
        </p:txBody>
      </p:sp>
      <p:sp>
        <p:nvSpPr>
          <p:cNvPr id="50" name="cc"/>
          <p:cNvSpPr txBox="1"/>
          <p:nvPr/>
        </p:nvSpPr>
        <p:spPr>
          <a:xfrm>
            <a:off x="457200" y="4297680"/>
            <a:ext cx="1737360" cy="182880"/>
          </a:xfrm>
          <a:prstGeom prst="rect">
            <a:avLst/>
          </a:prstGeom>
          <a:noFill/>
          <a:ln/>
        </p:spPr>
        <p:txBody>
          <a:bodyPr wrap="square" lIns="0" tIns="0" rIns="0" bIns="0" rtlCol="0" anchor="t"/>
          <a:lstStyle/>
          <a:p>
            <a:pPr marL="0" indent="0" algn="ctr">
              <a:buNone/>
            </a:pPr>
            <a:r>
              <a:rPr lang="en-US" sz="1000" dirty="0">
                <a:solidFill>
                  <a:schemeClr val="accent4"/>
                </a:solidFill>
              </a:rPr>
              <a:t>on the page</a:t>
            </a:r>
            <a:endParaRPr lang="en-US" sz="1000" dirty="0"/>
          </a:p>
        </p:txBody>
      </p:sp>
      <p:sp>
        <p:nvSpPr>
          <p:cNvPr id="51" name="animslowarr"/>
          <p:cNvSpPr/>
          <p:nvPr/>
        </p:nvSpPr>
        <p:spPr>
          <a:xfrm>
            <a:off x="2240280" y="3931920"/>
            <a:ext cx="182880" cy="228600"/>
          </a:xfrm>
          <a:prstGeom prst="rightArrow">
            <a:avLst/>
          </a:prstGeom>
          <a:solidFill>
            <a:schemeClr val="tx1"/>
          </a:solidFill>
          <a:ln w="12700">
            <a:solidFill>
              <a:schemeClr val="tx1"/>
            </a:solidFill>
            <a:prstDash val="solid"/>
          </a:ln>
        </p:spPr>
        <p:txBody>
          <a:bodyPr/>
          <a:lstStyle/>
          <a:p>
            <a:endParaRPr/>
          </a:p>
        </p:txBody>
      </p:sp>
      <p:sp>
        <p:nvSpPr>
          <p:cNvPr id="52" name="animslow chip"/>
          <p:cNvSpPr/>
          <p:nvPr/>
        </p:nvSpPr>
        <p:spPr>
          <a:xfrm>
            <a:off x="2468880" y="3840480"/>
            <a:ext cx="2194560" cy="411480"/>
          </a:xfrm>
          <a:prstGeom prst="roundRect">
            <a:avLst>
              <a:gd name="adj" fmla="val 17778"/>
            </a:avLst>
          </a:prstGeom>
          <a:solidFill>
            <a:schemeClr val="accent2">
              <a:alpha val="15000"/>
            </a:schemeClr>
          </a:solidFill>
          <a:ln w="12700">
            <a:solidFill>
              <a:schemeClr val="accent2"/>
            </a:solidFill>
            <a:prstDash val="solid"/>
          </a:ln>
        </p:spPr>
        <p:txBody>
          <a:bodyPr/>
          <a:lstStyle/>
          <a:p>
            <a:endParaRPr/>
          </a:p>
        </p:txBody>
      </p:sp>
      <p:sp>
        <p:nvSpPr>
          <p:cNvPr id="53" name="ct"/>
          <p:cNvSpPr txBox="1"/>
          <p:nvPr/>
        </p:nvSpPr>
        <p:spPr>
          <a:xfrm>
            <a:off x="2468880" y="3840480"/>
            <a:ext cx="2194560" cy="411480"/>
          </a:xfrm>
          <a:prstGeom prst="rect">
            <a:avLst/>
          </a:prstGeom>
          <a:noFill/>
          <a:ln/>
        </p:spPr>
        <p:txBody>
          <a:bodyPr wrap="square" lIns="0" tIns="0" rIns="0" bIns="0" rtlCol="0" anchor="ctr"/>
          <a:lstStyle/>
          <a:p>
            <a:pPr marL="0" indent="0" algn="ctr">
              <a:buNone/>
            </a:pPr>
            <a:r>
              <a:rPr lang="en-US" sz="1100" b="1" dirty="0">
                <a:solidFill>
                  <a:schemeClr val="accent2"/>
                </a:solidFill>
              </a:rPr>
              <a:t>alex.smith_482@example.com</a:t>
            </a:r>
            <a:endParaRPr lang="en-US" sz="1100" dirty="0"/>
          </a:p>
        </p:txBody>
      </p:sp>
      <p:sp>
        <p:nvSpPr>
          <p:cNvPr id="54" name="cc"/>
          <p:cNvSpPr txBox="1"/>
          <p:nvPr/>
        </p:nvSpPr>
        <p:spPr>
          <a:xfrm>
            <a:off x="2468880" y="4297680"/>
            <a:ext cx="2194560" cy="182880"/>
          </a:xfrm>
          <a:prstGeom prst="rect">
            <a:avLst/>
          </a:prstGeom>
          <a:noFill/>
          <a:ln/>
        </p:spPr>
        <p:txBody>
          <a:bodyPr wrap="square" lIns="0" tIns="0" rIns="0" bIns="0" rtlCol="0" anchor="t"/>
          <a:lstStyle/>
          <a:p>
            <a:pPr marL="0" indent="0" algn="ctr">
              <a:buNone/>
            </a:pPr>
            <a:r>
              <a:rPr lang="en-US" sz="1000" dirty="0">
                <a:solidFill>
                  <a:schemeClr val="accent4"/>
                </a:solidFill>
              </a:rPr>
              <a:t>sent to the LLM</a:t>
            </a:r>
            <a:endParaRPr lang="en-US" sz="1000" dirty="0"/>
          </a:p>
        </p:txBody>
      </p:sp>
      <p:sp>
        <p:nvSpPr>
          <p:cNvPr id="55" name="animslowarr"/>
          <p:cNvSpPr/>
          <p:nvPr/>
        </p:nvSpPr>
        <p:spPr>
          <a:xfrm>
            <a:off x="4709160" y="3931920"/>
            <a:ext cx="182880" cy="228600"/>
          </a:xfrm>
          <a:prstGeom prst="rightArrow">
            <a:avLst/>
          </a:prstGeom>
          <a:solidFill>
            <a:schemeClr val="tx1"/>
          </a:solidFill>
          <a:ln w="12700">
            <a:solidFill>
              <a:schemeClr val="tx1"/>
            </a:solidFill>
            <a:prstDash val="solid"/>
          </a:ln>
        </p:spPr>
        <p:txBody>
          <a:bodyPr/>
          <a:lstStyle/>
          <a:p>
            <a:endParaRPr/>
          </a:p>
        </p:txBody>
      </p:sp>
      <p:sp>
        <p:nvSpPr>
          <p:cNvPr id="56" name="animslow chip"/>
          <p:cNvSpPr/>
          <p:nvPr/>
        </p:nvSpPr>
        <p:spPr>
          <a:xfrm>
            <a:off x="4937760" y="3840480"/>
            <a:ext cx="2011680" cy="411480"/>
          </a:xfrm>
          <a:prstGeom prst="roundRect">
            <a:avLst>
              <a:gd name="adj" fmla="val 17778"/>
            </a:avLst>
          </a:prstGeom>
          <a:solidFill>
            <a:schemeClr val="accent1">
              <a:alpha val="15000"/>
            </a:schemeClr>
          </a:solidFill>
          <a:ln w="12700">
            <a:solidFill>
              <a:schemeClr val="accent1"/>
            </a:solidFill>
            <a:prstDash val="solid"/>
          </a:ln>
        </p:spPr>
        <p:txBody>
          <a:bodyPr/>
          <a:lstStyle/>
          <a:p>
            <a:endParaRPr/>
          </a:p>
        </p:txBody>
      </p:sp>
      <p:sp>
        <p:nvSpPr>
          <p:cNvPr id="57" name="ct"/>
          <p:cNvSpPr txBox="1"/>
          <p:nvPr/>
        </p:nvSpPr>
        <p:spPr>
          <a:xfrm>
            <a:off x="4937760" y="3840480"/>
            <a:ext cx="2011680" cy="411480"/>
          </a:xfrm>
          <a:prstGeom prst="rect">
            <a:avLst/>
          </a:prstGeom>
          <a:noFill/>
          <a:ln/>
        </p:spPr>
        <p:txBody>
          <a:bodyPr wrap="square" lIns="0" tIns="0" rIns="0" bIns="0" rtlCol="0" anchor="ctr"/>
          <a:lstStyle/>
          <a:p>
            <a:pPr marL="0" indent="0" algn="ctr">
              <a:buNone/>
            </a:pPr>
            <a:r>
              <a:rPr lang="en-US" sz="1100" b="1" dirty="0">
                <a:solidFill>
                  <a:schemeClr val="accent1"/>
                </a:solidFill>
              </a:rPr>
              <a:t>type it into “Email”</a:t>
            </a:r>
            <a:endParaRPr lang="en-US" sz="1100" dirty="0"/>
          </a:p>
        </p:txBody>
      </p:sp>
      <p:sp>
        <p:nvSpPr>
          <p:cNvPr id="58" name="cc"/>
          <p:cNvSpPr txBox="1"/>
          <p:nvPr/>
        </p:nvSpPr>
        <p:spPr>
          <a:xfrm>
            <a:off x="4937760" y="4297680"/>
            <a:ext cx="2011680" cy="182880"/>
          </a:xfrm>
          <a:prstGeom prst="rect">
            <a:avLst/>
          </a:prstGeom>
          <a:noFill/>
          <a:ln/>
        </p:spPr>
        <p:txBody>
          <a:bodyPr wrap="square" lIns="0" tIns="0" rIns="0" bIns="0" rtlCol="0" anchor="t"/>
          <a:lstStyle/>
          <a:p>
            <a:pPr marL="0" indent="0" algn="ctr">
              <a:buNone/>
            </a:pPr>
            <a:r>
              <a:rPr lang="en-US" sz="1000" dirty="0">
                <a:solidFill>
                  <a:schemeClr val="accent4"/>
                </a:solidFill>
              </a:rPr>
              <a:t>LLM action</a:t>
            </a:r>
            <a:endParaRPr lang="en-US" sz="1000" dirty="0"/>
          </a:p>
        </p:txBody>
      </p:sp>
      <p:sp>
        <p:nvSpPr>
          <p:cNvPr id="59" name="animslowarr"/>
          <p:cNvSpPr/>
          <p:nvPr/>
        </p:nvSpPr>
        <p:spPr>
          <a:xfrm>
            <a:off x="6995160" y="3931920"/>
            <a:ext cx="182880" cy="228600"/>
          </a:xfrm>
          <a:prstGeom prst="rightArrow">
            <a:avLst/>
          </a:prstGeom>
          <a:solidFill>
            <a:schemeClr val="tx1"/>
          </a:solidFill>
          <a:ln w="12700">
            <a:solidFill>
              <a:schemeClr val="tx1"/>
            </a:solidFill>
            <a:prstDash val="solid"/>
          </a:ln>
        </p:spPr>
        <p:txBody>
          <a:bodyPr/>
          <a:lstStyle/>
          <a:p>
            <a:endParaRPr/>
          </a:p>
        </p:txBody>
      </p:sp>
      <p:sp>
        <p:nvSpPr>
          <p:cNvPr id="60" name="animslow chip"/>
          <p:cNvSpPr/>
          <p:nvPr/>
        </p:nvSpPr>
        <p:spPr>
          <a:xfrm>
            <a:off x="7223760" y="3840480"/>
            <a:ext cx="1463040" cy="411480"/>
          </a:xfrm>
          <a:prstGeom prst="roundRect">
            <a:avLst>
              <a:gd name="adj" fmla="val 17778"/>
            </a:avLst>
          </a:prstGeom>
          <a:solidFill>
            <a:schemeClr val="accent3">
              <a:alpha val="15000"/>
            </a:schemeClr>
          </a:solidFill>
          <a:ln w="12700">
            <a:solidFill>
              <a:schemeClr val="accent3"/>
            </a:solidFill>
            <a:prstDash val="solid"/>
          </a:ln>
        </p:spPr>
        <p:txBody>
          <a:bodyPr/>
          <a:lstStyle/>
          <a:p>
            <a:endParaRPr/>
          </a:p>
        </p:txBody>
      </p:sp>
      <p:sp>
        <p:nvSpPr>
          <p:cNvPr id="61" name="ct"/>
          <p:cNvSpPr txBox="1"/>
          <p:nvPr/>
        </p:nvSpPr>
        <p:spPr>
          <a:xfrm>
            <a:off x="7223760" y="3840480"/>
            <a:ext cx="1463040" cy="411480"/>
          </a:xfrm>
          <a:prstGeom prst="rect">
            <a:avLst/>
          </a:prstGeom>
          <a:noFill/>
          <a:ln/>
        </p:spPr>
        <p:txBody>
          <a:bodyPr wrap="square" lIns="0" tIns="0" rIns="0" bIns="0" rtlCol="0" anchor="ctr"/>
          <a:lstStyle/>
          <a:p>
            <a:pPr marL="0" indent="0" algn="ctr">
              <a:buNone/>
            </a:pPr>
            <a:r>
              <a:rPr lang="en-US" sz="1000" b="1" dirty="0">
                <a:solidFill>
                  <a:schemeClr val="accent3"/>
                </a:solidFill>
              </a:rPr>
              <a:t>john.doe@company.com</a:t>
            </a:r>
            <a:endParaRPr lang="en-US" sz="1100" dirty="0"/>
          </a:p>
        </p:txBody>
      </p:sp>
      <p:sp>
        <p:nvSpPr>
          <p:cNvPr id="62" name="cc"/>
          <p:cNvSpPr txBox="1"/>
          <p:nvPr/>
        </p:nvSpPr>
        <p:spPr>
          <a:xfrm>
            <a:off x="7223760" y="4297680"/>
            <a:ext cx="1463040" cy="182880"/>
          </a:xfrm>
          <a:prstGeom prst="rect">
            <a:avLst/>
          </a:prstGeom>
          <a:noFill/>
          <a:ln/>
        </p:spPr>
        <p:txBody>
          <a:bodyPr wrap="square" lIns="0" tIns="0" rIns="0" bIns="0" rtlCol="0" anchor="t"/>
          <a:lstStyle/>
          <a:p>
            <a:pPr marL="0" indent="0" algn="ctr">
              <a:buNone/>
            </a:pPr>
            <a:r>
              <a:rPr lang="en-US" sz="1000" dirty="0">
                <a:solidFill>
                  <a:schemeClr val="accent4"/>
                </a:solidFill>
              </a:rPr>
              <a:t>typed locally</a:t>
            </a:r>
            <a:endParaRPr lang="en-US" sz="1000" dirty="0"/>
          </a:p>
        </p:txBody>
      </p:sp>
      <p:sp>
        <p:nvSpPr>
          <p:cNvPr id="6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5</a:t>
            </a:fld>
            <a:endParaRPr lang="en-US"/>
          </a:p>
        </p:txBody>
      </p:sp>
      <p:sp>
        <p:nvSpPr>
          <p:cNvPr id="83" name="nav1">
            <a:hlinkClick r:id="rId3" action="ppaction://hlinksldjump" tooltip="1. Title"/>
          </p:cNvPr>
          <p:cNvSpPr/>
          <p:nvPr/>
        </p:nvSpPr>
        <p:spPr>
          <a:xfrm>
            <a:off x="3364991"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1</a:t>
            </a:r>
          </a:p>
        </p:txBody>
      </p:sp>
      <p:sp>
        <p:nvSpPr>
          <p:cNvPr id="84" name="nav2">
            <a:hlinkClick r:id="rId4" action="ppaction://hlinksldjump" tooltip="2. Problem"/>
          </p:cNvPr>
          <p:cNvSpPr/>
          <p:nvPr/>
        </p:nvSpPr>
        <p:spPr>
          <a:xfrm>
            <a:off x="3675887"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2</a:t>
            </a:r>
          </a:p>
        </p:txBody>
      </p:sp>
      <p:sp>
        <p:nvSpPr>
          <p:cNvPr id="85" name="nav3">
            <a:hlinkClick r:id="rId5" action="ppaction://hlinksldjump" tooltip="3. Idea"/>
          </p:cNvPr>
          <p:cNvSpPr/>
          <p:nvPr/>
        </p:nvSpPr>
        <p:spPr>
          <a:xfrm>
            <a:off x="3986783"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3</a:t>
            </a:r>
          </a:p>
        </p:txBody>
      </p:sp>
      <p:sp>
        <p:nvSpPr>
          <p:cNvPr id="86" name="nav4">
            <a:hlinkClick r:id="rId6" action="ppaction://hlinksldjump" tooltip="4. Architecture"/>
          </p:cNvPr>
          <p:cNvSpPr/>
          <p:nvPr/>
        </p:nvSpPr>
        <p:spPr>
          <a:xfrm>
            <a:off x="4297679"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4</a:t>
            </a:r>
          </a:p>
        </p:txBody>
      </p:sp>
      <p:sp>
        <p:nvSpPr>
          <p:cNvPr id="87" name="nav5">
            <a:hlinkClick r:id="rId7" action="ppaction://hlinksldjump" tooltip="5. Pipeline"/>
          </p:cNvPr>
          <p:cNvSpPr/>
          <p:nvPr/>
        </p:nvSpPr>
        <p:spPr>
          <a:xfrm>
            <a:off x="4608576" y="472744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bg1"/>
                </a:solidFill>
              </a:rPr>
              <a:t>5</a:t>
            </a:r>
          </a:p>
        </p:txBody>
      </p:sp>
      <p:sp>
        <p:nvSpPr>
          <p:cNvPr id="88" name="nav6">
            <a:hlinkClick r:id="rId8" action="ppaction://hlinksldjump" tooltip="6. Different"/>
          </p:cNvPr>
          <p:cNvSpPr/>
          <p:nvPr/>
        </p:nvSpPr>
        <p:spPr>
          <a:xfrm>
            <a:off x="4919472"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6</a:t>
            </a:r>
          </a:p>
        </p:txBody>
      </p:sp>
      <p:sp>
        <p:nvSpPr>
          <p:cNvPr id="89" name="nav7">
            <a:hlinkClick r:id="rId9" action="ppaction://hlinksldjump" tooltip="7. Proof"/>
          </p:cNvPr>
          <p:cNvSpPr/>
          <p:nvPr/>
        </p:nvSpPr>
        <p:spPr>
          <a:xfrm>
            <a:off x="5230368"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7</a:t>
            </a:r>
          </a:p>
        </p:txBody>
      </p:sp>
      <p:sp>
        <p:nvSpPr>
          <p:cNvPr id="90" name="nav8">
            <a:hlinkClick r:id="rId10" action="ppaction://hlinksldjump" tooltip="8. Roadmap"/>
          </p:cNvPr>
          <p:cNvSpPr/>
          <p:nvPr/>
        </p:nvSpPr>
        <p:spPr>
          <a:xfrm>
            <a:off x="5541264"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8</a:t>
            </a:r>
          </a:p>
        </p:txBody>
      </p:sp>
      <p:sp>
        <p:nvSpPr>
          <p:cNvPr id="91" name="prev">
            <a:hlinkClick r:id="rId6" action="ppaction://hlinksldjump" tooltip="Previous slide"/>
          </p:cNvPr>
          <p:cNvSpPr txBox="1"/>
          <p:nvPr/>
        </p:nvSpPr>
        <p:spPr>
          <a:xfrm>
            <a:off x="3054096" y="4700016"/>
            <a:ext cx="256032" cy="274320"/>
          </a:xfrm>
          <a:prstGeom prst="rect">
            <a:avLst/>
          </a:prstGeom>
          <a:noFill/>
        </p:spPr>
        <p:txBody>
          <a:bodyPr wrap="square" lIns="0" tIns="0" rIns="0" bIns="0" anchor="ctr">
            <a:spAutoFit/>
          </a:bodyPr>
          <a:lstStyle/>
          <a:p>
            <a:pPr algn="ctr">
              <a:spcAft>
                <a:spcPts val="0"/>
              </a:spcAft>
            </a:pPr>
            <a:r>
              <a:rPr sz="1800" b="1">
                <a:solidFill>
                  <a:schemeClr val="accent4"/>
                </a:solidFill>
              </a:rPr>
              <a:t>‹</a:t>
            </a:r>
          </a:p>
        </p:txBody>
      </p:sp>
      <p:sp>
        <p:nvSpPr>
          <p:cNvPr id="92" name="next">
            <a:hlinkClick r:id="rId8" action="ppaction://hlinksldjump" tooltip="Next slide"/>
          </p:cNvPr>
          <p:cNvSpPr txBox="1"/>
          <p:nvPr/>
        </p:nvSpPr>
        <p:spPr>
          <a:xfrm>
            <a:off x="5833872" y="4700016"/>
            <a:ext cx="256032" cy="274320"/>
          </a:xfrm>
          <a:prstGeom prst="rect">
            <a:avLst/>
          </a:prstGeom>
          <a:noFill/>
        </p:spPr>
        <p:txBody>
          <a:bodyPr wrap="square" lIns="0" tIns="0" rIns="0" bIns="0" anchor="ctr">
            <a:spAutoFit/>
          </a:bodyPr>
          <a:lstStyle/>
          <a:p>
            <a:pPr algn="ctr">
              <a:spcAft>
                <a:spcPts val="0"/>
              </a:spcAft>
            </a:pPr>
            <a:r>
              <a:rPr sz="1800" b="1">
                <a:solidFill>
                  <a:schemeClr val="accent4"/>
                </a:solidFill>
              </a:rPr>
              <a:t>›</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8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76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114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22" presetClass="entr" presetSubtype="8" fill="hold" nodeType="withEffect">
                                  <p:stCondLst>
                                    <p:cond delay="152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par>
                                <p:cTn id="20" presetID="10" presetClass="entr" presetSubtype="0" fill="hold" nodeType="withEffect">
                                  <p:stCondLst>
                                    <p:cond delay="190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22" presetClass="entr" presetSubtype="8" fill="hold" nodeType="withEffect">
                                  <p:stCondLst>
                                    <p:cond delay="228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500"/>
                                        <p:tgtEl>
                                          <p:spTgt spid="19"/>
                                        </p:tgtEl>
                                      </p:cBhvr>
                                    </p:animEffect>
                                  </p:childTnLst>
                                </p:cTn>
                              </p:par>
                              <p:par>
                                <p:cTn id="26" presetID="10" presetClass="entr" presetSubtype="0" fill="hold" nodeType="withEffect">
                                  <p:stCondLst>
                                    <p:cond delay="266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22" presetClass="entr" presetSubtype="8" fill="hold" nodeType="withEffect">
                                  <p:stCondLst>
                                    <p:cond delay="3040"/>
                                  </p:stCondLst>
                                  <p:childTnLst>
                                    <p:set>
                                      <p:cBhvr>
                                        <p:cTn id="30" dur="1" fill="hold">
                                          <p:stCondLst>
                                            <p:cond delay="0"/>
                                          </p:stCondLst>
                                        </p:cTn>
                                        <p:tgtEl>
                                          <p:spTgt spid="24"/>
                                        </p:tgtEl>
                                        <p:attrNameLst>
                                          <p:attrName>style.visibility</p:attrName>
                                        </p:attrNameLst>
                                      </p:cBhvr>
                                      <p:to>
                                        <p:strVal val="visible"/>
                                      </p:to>
                                    </p:set>
                                    <p:animEffect transition="in" filter="wipe(left)">
                                      <p:cBhvr>
                                        <p:cTn id="31" dur="500"/>
                                        <p:tgtEl>
                                          <p:spTgt spid="24"/>
                                        </p:tgtEl>
                                      </p:cBhvr>
                                    </p:animEffect>
                                  </p:childTnLst>
                                </p:cTn>
                              </p:par>
                              <p:par>
                                <p:cTn id="32" presetID="10" presetClass="entr" presetSubtype="0" fill="hold" nodeType="withEffect">
                                  <p:stCondLst>
                                    <p:cond delay="342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22" presetClass="entr" presetSubtype="8" fill="hold" nodeType="withEffect">
                                  <p:stCondLst>
                                    <p:cond delay="380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500"/>
                                        <p:tgtEl>
                                          <p:spTgt spid="29"/>
                                        </p:tgtEl>
                                      </p:cBhvr>
                                    </p:animEffect>
                                  </p:childTnLst>
                                </p:cTn>
                              </p:par>
                              <p:par>
                                <p:cTn id="38" presetID="10" presetClass="entr" presetSubtype="0" fill="hold" nodeType="withEffect">
                                  <p:stCondLst>
                                    <p:cond delay="418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00"/>
                                        <p:tgtEl>
                                          <p:spTgt spid="30"/>
                                        </p:tgtEl>
                                      </p:cBhvr>
                                    </p:animEffect>
                                  </p:childTnLst>
                                </p:cTn>
                              </p:par>
                              <p:par>
                                <p:cTn id="41" presetID="22" presetClass="entr" presetSubtype="8" fill="hold" nodeType="withEffect">
                                  <p:stCondLst>
                                    <p:cond delay="4560"/>
                                  </p:stCondLst>
                                  <p:childTnLst>
                                    <p:set>
                                      <p:cBhvr>
                                        <p:cTn id="42" dur="1" fill="hold">
                                          <p:stCondLst>
                                            <p:cond delay="0"/>
                                          </p:stCondLst>
                                        </p:cTn>
                                        <p:tgtEl>
                                          <p:spTgt spid="34"/>
                                        </p:tgtEl>
                                        <p:attrNameLst>
                                          <p:attrName>style.visibility</p:attrName>
                                        </p:attrNameLst>
                                      </p:cBhvr>
                                      <p:to>
                                        <p:strVal val="visible"/>
                                      </p:to>
                                    </p:set>
                                    <p:animEffect transition="in" filter="wipe(left)">
                                      <p:cBhvr>
                                        <p:cTn id="43" dur="500"/>
                                        <p:tgtEl>
                                          <p:spTgt spid="34"/>
                                        </p:tgtEl>
                                      </p:cBhvr>
                                    </p:animEffect>
                                  </p:childTnLst>
                                </p:cTn>
                              </p:par>
                              <p:par>
                                <p:cTn id="44" presetID="10" presetClass="entr" presetSubtype="0" fill="hold" nodeType="withEffect">
                                  <p:stCondLst>
                                    <p:cond delay="494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500"/>
                                        <p:tgtEl>
                                          <p:spTgt spid="35"/>
                                        </p:tgtEl>
                                      </p:cBhvr>
                                    </p:animEffect>
                                  </p:childTnLst>
                                </p:cTn>
                              </p:par>
                              <p:par>
                                <p:cTn id="47" presetID="22" presetClass="entr" presetSubtype="8" fill="hold" nodeType="withEffect">
                                  <p:stCondLst>
                                    <p:cond delay="5320"/>
                                  </p:stCondLst>
                                  <p:childTnLst>
                                    <p:set>
                                      <p:cBhvr>
                                        <p:cTn id="48" dur="1" fill="hold">
                                          <p:stCondLst>
                                            <p:cond delay="0"/>
                                          </p:stCondLst>
                                        </p:cTn>
                                        <p:tgtEl>
                                          <p:spTgt spid="39"/>
                                        </p:tgtEl>
                                        <p:attrNameLst>
                                          <p:attrName>style.visibility</p:attrName>
                                        </p:attrNameLst>
                                      </p:cBhvr>
                                      <p:to>
                                        <p:strVal val="visible"/>
                                      </p:to>
                                    </p:set>
                                    <p:animEffect transition="in" filter="wipe(left)">
                                      <p:cBhvr>
                                        <p:cTn id="49" dur="500"/>
                                        <p:tgtEl>
                                          <p:spTgt spid="39"/>
                                        </p:tgtEl>
                                      </p:cBhvr>
                                    </p:animEffect>
                                  </p:childTnLst>
                                </p:cTn>
                              </p:par>
                              <p:par>
                                <p:cTn id="50" presetID="10" presetClass="entr" presetSubtype="0" fill="hold" nodeType="withEffect">
                                  <p:stCondLst>
                                    <p:cond delay="570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par>
                                <p:cTn id="53" presetID="10" presetClass="entr" presetSubtype="0" fill="hold" nodeType="withEffect">
                                  <p:stCondLst>
                                    <p:cond delay="6000"/>
                                  </p:stCondLst>
                                  <p:childTnLst>
                                    <p:set>
                                      <p:cBhvr>
                                        <p:cTn id="54" dur="1" fill="hold">
                                          <p:stCondLst>
                                            <p:cond delay="0"/>
                                          </p:stCondLst>
                                        </p:cTn>
                                        <p:tgtEl>
                                          <p:spTgt spid="44"/>
                                        </p:tgtEl>
                                        <p:attrNameLst>
                                          <p:attrName>style.visibility</p:attrName>
                                        </p:attrNameLst>
                                      </p:cBhvr>
                                      <p:to>
                                        <p:strVal val="visible"/>
                                      </p:to>
                                    </p:set>
                                    <p:animEffect transition="in" filter="fade">
                                      <p:cBhvr>
                                        <p:cTn id="55" dur="500"/>
                                        <p:tgtEl>
                                          <p:spTgt spid="44"/>
                                        </p:tgtEl>
                                      </p:cBhvr>
                                    </p:animEffect>
                                  </p:childTnLst>
                                </p:cTn>
                              </p:par>
                              <p:par>
                                <p:cTn id="56" presetID="10" presetClass="entr" presetSubtype="0" fill="hold" nodeType="withEffect">
                                  <p:stCondLst>
                                    <p:cond delay="600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500"/>
                                        <p:tgtEl>
                                          <p:spTgt spid="45"/>
                                        </p:tgtEl>
                                      </p:cBhvr>
                                    </p:animEffect>
                                  </p:childTnLst>
                                </p:cTn>
                              </p:par>
                              <p:par>
                                <p:cTn id="59" presetID="10" presetClass="entr" presetSubtype="0" fill="hold" nodeType="withEffect">
                                  <p:stCondLst>
                                    <p:cond delay="600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500"/>
                                        <p:tgtEl>
                                          <p:spTgt spid="47"/>
                                        </p:tgtEl>
                                      </p:cBhvr>
                                    </p:animEffect>
                                  </p:childTnLst>
                                </p:cTn>
                              </p:par>
                              <p:par>
                                <p:cTn id="62" presetID="10" presetClass="entr" presetSubtype="0" fill="hold" nodeType="withEffect">
                                  <p:stCondLst>
                                    <p:cond delay="600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500"/>
                                        <p:tgtEl>
                                          <p:spTgt spid="48"/>
                                        </p:tgtEl>
                                      </p:cBhvr>
                                    </p:animEffect>
                                  </p:childTnLst>
                                </p:cTn>
                              </p:par>
                              <p:par>
                                <p:cTn id="65" presetID="22" presetClass="entr" presetSubtype="8" fill="hold" nodeType="withEffect">
                                  <p:stCondLst>
                                    <p:cond delay="6000"/>
                                  </p:stCondLst>
                                  <p:childTnLst>
                                    <p:set>
                                      <p:cBhvr>
                                        <p:cTn id="66" dur="1" fill="hold">
                                          <p:stCondLst>
                                            <p:cond delay="0"/>
                                          </p:stCondLst>
                                        </p:cTn>
                                        <p:tgtEl>
                                          <p:spTgt spid="51"/>
                                        </p:tgtEl>
                                        <p:attrNameLst>
                                          <p:attrName>style.visibility</p:attrName>
                                        </p:attrNameLst>
                                      </p:cBhvr>
                                      <p:to>
                                        <p:strVal val="visible"/>
                                      </p:to>
                                    </p:set>
                                    <p:animEffect transition="in" filter="wipe(left)">
                                      <p:cBhvr>
                                        <p:cTn id="67" dur="500"/>
                                        <p:tgtEl>
                                          <p:spTgt spid="51"/>
                                        </p:tgtEl>
                                      </p:cBhvr>
                                    </p:animEffect>
                                  </p:childTnLst>
                                </p:cTn>
                              </p:par>
                              <p:par>
                                <p:cTn id="68" presetID="10" presetClass="entr" presetSubtype="0" fill="hold" nodeType="withEffect">
                                  <p:stCondLst>
                                    <p:cond delay="6000"/>
                                  </p:stCondLst>
                                  <p:childTnLst>
                                    <p:set>
                                      <p:cBhvr>
                                        <p:cTn id="69" dur="1" fill="hold">
                                          <p:stCondLst>
                                            <p:cond delay="0"/>
                                          </p:stCondLst>
                                        </p:cTn>
                                        <p:tgtEl>
                                          <p:spTgt spid="52"/>
                                        </p:tgtEl>
                                        <p:attrNameLst>
                                          <p:attrName>style.visibility</p:attrName>
                                        </p:attrNameLst>
                                      </p:cBhvr>
                                      <p:to>
                                        <p:strVal val="visible"/>
                                      </p:to>
                                    </p:set>
                                    <p:animEffect transition="in" filter="fade">
                                      <p:cBhvr>
                                        <p:cTn id="70" dur="500"/>
                                        <p:tgtEl>
                                          <p:spTgt spid="52"/>
                                        </p:tgtEl>
                                      </p:cBhvr>
                                    </p:animEffect>
                                  </p:childTnLst>
                                </p:cTn>
                              </p:par>
                              <p:par>
                                <p:cTn id="71" presetID="22" presetClass="entr" presetSubtype="8" fill="hold" nodeType="withEffect">
                                  <p:stCondLst>
                                    <p:cond delay="6000"/>
                                  </p:stCondLst>
                                  <p:childTnLst>
                                    <p:set>
                                      <p:cBhvr>
                                        <p:cTn id="72" dur="1" fill="hold">
                                          <p:stCondLst>
                                            <p:cond delay="0"/>
                                          </p:stCondLst>
                                        </p:cTn>
                                        <p:tgtEl>
                                          <p:spTgt spid="55"/>
                                        </p:tgtEl>
                                        <p:attrNameLst>
                                          <p:attrName>style.visibility</p:attrName>
                                        </p:attrNameLst>
                                      </p:cBhvr>
                                      <p:to>
                                        <p:strVal val="visible"/>
                                      </p:to>
                                    </p:set>
                                    <p:animEffect transition="in" filter="wipe(left)">
                                      <p:cBhvr>
                                        <p:cTn id="73" dur="500"/>
                                        <p:tgtEl>
                                          <p:spTgt spid="55"/>
                                        </p:tgtEl>
                                      </p:cBhvr>
                                    </p:animEffect>
                                  </p:childTnLst>
                                </p:cTn>
                              </p:par>
                              <p:par>
                                <p:cTn id="74" presetID="10" presetClass="entr" presetSubtype="0" fill="hold" nodeType="withEffect">
                                  <p:stCondLst>
                                    <p:cond delay="6000"/>
                                  </p:stCondLst>
                                  <p:childTnLst>
                                    <p:set>
                                      <p:cBhvr>
                                        <p:cTn id="75" dur="1" fill="hold">
                                          <p:stCondLst>
                                            <p:cond delay="0"/>
                                          </p:stCondLst>
                                        </p:cTn>
                                        <p:tgtEl>
                                          <p:spTgt spid="56"/>
                                        </p:tgtEl>
                                        <p:attrNameLst>
                                          <p:attrName>style.visibility</p:attrName>
                                        </p:attrNameLst>
                                      </p:cBhvr>
                                      <p:to>
                                        <p:strVal val="visible"/>
                                      </p:to>
                                    </p:set>
                                    <p:animEffect transition="in" filter="fade">
                                      <p:cBhvr>
                                        <p:cTn id="76" dur="500"/>
                                        <p:tgtEl>
                                          <p:spTgt spid="56"/>
                                        </p:tgtEl>
                                      </p:cBhvr>
                                    </p:animEffect>
                                  </p:childTnLst>
                                </p:cTn>
                              </p:par>
                              <p:par>
                                <p:cTn id="77" presetID="22" presetClass="entr" presetSubtype="8" fill="hold" nodeType="withEffect">
                                  <p:stCondLst>
                                    <p:cond delay="6000"/>
                                  </p:stCondLst>
                                  <p:childTnLst>
                                    <p:set>
                                      <p:cBhvr>
                                        <p:cTn id="78" dur="1" fill="hold">
                                          <p:stCondLst>
                                            <p:cond delay="0"/>
                                          </p:stCondLst>
                                        </p:cTn>
                                        <p:tgtEl>
                                          <p:spTgt spid="59"/>
                                        </p:tgtEl>
                                        <p:attrNameLst>
                                          <p:attrName>style.visibility</p:attrName>
                                        </p:attrNameLst>
                                      </p:cBhvr>
                                      <p:to>
                                        <p:strVal val="visible"/>
                                      </p:to>
                                    </p:set>
                                    <p:animEffect transition="in" filter="wipe(left)">
                                      <p:cBhvr>
                                        <p:cTn id="79" dur="500"/>
                                        <p:tgtEl>
                                          <p:spTgt spid="59"/>
                                        </p:tgtEl>
                                      </p:cBhvr>
                                    </p:animEffect>
                                  </p:childTnLst>
                                </p:cTn>
                              </p:par>
                              <p:par>
                                <p:cTn id="80" presetID="10" presetClass="entr" presetSubtype="0" fill="hold" nodeType="withEffect">
                                  <p:stCondLst>
                                    <p:cond delay="6000"/>
                                  </p:stCondLst>
                                  <p:childTnLst>
                                    <p:set>
                                      <p:cBhvr>
                                        <p:cTn id="81" dur="1" fill="hold">
                                          <p:stCondLst>
                                            <p:cond delay="0"/>
                                          </p:stCondLst>
                                        </p:cTn>
                                        <p:tgtEl>
                                          <p:spTgt spid="60"/>
                                        </p:tgtEl>
                                        <p:attrNameLst>
                                          <p:attrName>style.visibility</p:attrName>
                                        </p:attrNameLst>
                                      </p:cBhvr>
                                      <p:to>
                                        <p:strVal val="visible"/>
                                      </p:to>
                                    </p:set>
                                    <p:animEffect transition="in" filter="fade">
                                      <p:cBhvr>
                                        <p:cTn id="8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rPr>
              <a:t>What makes PrivacyLens different</a:t>
            </a:r>
            <a:endParaRPr lang="en-US" sz="3000" dirty="0"/>
          </a:p>
        </p:txBody>
      </p:sp>
      <p:sp>
        <p:nvSpPr>
          <p:cNvPr id="3" name="text">
            <a:hlinkClick r:id="rId3" action="ppaction://hlinksldjump" tooltip="Back to title and topics"/>
          </p:cNvPr>
          <p:cNvSpPr txBox="1"/>
          <p:nvPr/>
        </p:nvSpPr>
        <p:spPr>
          <a:xfrm>
            <a:off x="457200" y="4786884"/>
            <a:ext cx="1097280" cy="228600"/>
          </a:xfrm>
          <a:prstGeom prst="rect">
            <a:avLst/>
          </a:prstGeom>
          <a:noFill/>
          <a:ln/>
        </p:spPr>
        <p:txBody>
          <a:bodyPr wrap="square" lIns="0" tIns="0" rIns="0" bIns="0" rtlCol="0" anchor="t"/>
          <a:lstStyle/>
          <a:p>
            <a:pPr marL="0" indent="0">
              <a:buNone/>
            </a:pPr>
            <a:r>
              <a:rPr lang="en-US" sz="1000" u="sng" dirty="0">
                <a:solidFill>
                  <a:schemeClr val="accent4"/>
                </a:solidFill>
              </a:rPr>
              <a:t>⌂ Home</a:t>
            </a:r>
            <a:endParaRPr lang="en-US" sz="1000" dirty="0"/>
          </a:p>
        </p:txBody>
      </p:sp>
      <p:sp>
        <p:nvSpPr>
          <p:cNvPr id="4"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6</a:t>
            </a:fld>
            <a:endParaRPr lang="en-US"/>
          </a:p>
        </p:txBody>
      </p:sp>
      <p:sp>
        <p:nvSpPr>
          <p:cNvPr id="5" name="anim lab"/>
          <p:cNvSpPr txBox="1"/>
          <p:nvPr/>
        </p:nvSpPr>
        <p:spPr>
          <a:xfrm>
            <a:off x="457200" y="987552"/>
            <a:ext cx="4114800" cy="201168"/>
          </a:xfrm>
          <a:prstGeom prst="rect">
            <a:avLst/>
          </a:prstGeom>
          <a:noFill/>
        </p:spPr>
        <p:txBody>
          <a:bodyPr wrap="square" lIns="0" tIns="0" rIns="0" bIns="0" anchor="t">
            <a:spAutoFit/>
          </a:bodyPr>
          <a:lstStyle/>
          <a:p>
            <a:pPr>
              <a:spcAft>
                <a:spcPts val="0"/>
              </a:spcAft>
            </a:pPr>
            <a:r>
              <a:rPr sz="1100" b="1">
                <a:solidFill>
                  <a:schemeClr val="accent1"/>
                </a:solidFill>
              </a:rPr>
              <a:t>FIVE SIGNATURE FEATURES</a:t>
            </a:r>
          </a:p>
        </p:txBody>
      </p:sp>
      <p:sp>
        <p:nvSpPr>
          <p:cNvPr id="6" name="anim n"/>
          <p:cNvSpPr txBox="1"/>
          <p:nvPr/>
        </p:nvSpPr>
        <p:spPr>
          <a:xfrm>
            <a:off x="457200" y="1234440"/>
            <a:ext cx="365760" cy="457200"/>
          </a:xfrm>
          <a:prstGeom prst="rect">
            <a:avLst/>
          </a:prstGeom>
          <a:noFill/>
        </p:spPr>
        <p:txBody>
          <a:bodyPr wrap="square" lIns="0" tIns="0" rIns="0" bIns="0" anchor="t">
            <a:spAutoFit/>
          </a:bodyPr>
          <a:lstStyle/>
          <a:p>
            <a:pPr>
              <a:spcAft>
                <a:spcPts val="0"/>
              </a:spcAft>
            </a:pPr>
            <a:r>
              <a:rPr sz="2600" b="1">
                <a:solidFill>
                  <a:schemeClr val="accent1"/>
                </a:solidFill>
                <a:latin typeface="+mj-lt"/>
              </a:rPr>
              <a:t>1</a:t>
            </a:r>
          </a:p>
        </p:txBody>
      </p:sp>
      <p:sp>
        <p:nvSpPr>
          <p:cNvPr id="7" name="anim h"/>
          <p:cNvSpPr txBox="1"/>
          <p:nvPr/>
        </p:nvSpPr>
        <p:spPr>
          <a:xfrm>
            <a:off x="914400" y="1252728"/>
            <a:ext cx="3566160" cy="237744"/>
          </a:xfrm>
          <a:prstGeom prst="rect">
            <a:avLst/>
          </a:prstGeom>
          <a:noFill/>
        </p:spPr>
        <p:txBody>
          <a:bodyPr wrap="square" lIns="0" tIns="0" rIns="0" bIns="0" anchor="t">
            <a:spAutoFit/>
          </a:bodyPr>
          <a:lstStyle/>
          <a:p>
            <a:pPr>
              <a:spcAft>
                <a:spcPts val="0"/>
              </a:spcAft>
            </a:pPr>
            <a:r>
              <a:rPr sz="1400" b="1">
                <a:solidFill>
                  <a:schemeClr val="tx1"/>
                </a:solidFill>
              </a:rPr>
              <a:t>Privacy Firewall</a:t>
            </a:r>
          </a:p>
        </p:txBody>
      </p:sp>
      <p:sp>
        <p:nvSpPr>
          <p:cNvPr id="8" name="anim d"/>
          <p:cNvSpPr txBox="1"/>
          <p:nvPr/>
        </p:nvSpPr>
        <p:spPr>
          <a:xfrm>
            <a:off x="914400" y="1499616"/>
            <a:ext cx="3566160" cy="329184"/>
          </a:xfrm>
          <a:prstGeom prst="rect">
            <a:avLst/>
          </a:prstGeom>
          <a:noFill/>
        </p:spPr>
        <p:txBody>
          <a:bodyPr wrap="square" lIns="0" tIns="0" rIns="0" bIns="0" anchor="t">
            <a:spAutoFit/>
          </a:bodyPr>
          <a:lstStyle/>
          <a:p>
            <a:pPr>
              <a:spcAft>
                <a:spcPts val="0"/>
              </a:spcAft>
            </a:pPr>
            <a:r>
              <a:rPr sz="1100">
                <a:solidFill>
                  <a:schemeClr val="accent4"/>
                </a:solidFill>
              </a:rPr>
              <a:t>Inject a canary secret live and watch the gateway block it.</a:t>
            </a:r>
          </a:p>
        </p:txBody>
      </p:sp>
      <p:sp>
        <p:nvSpPr>
          <p:cNvPr id="9" name="anim n"/>
          <p:cNvSpPr txBox="1"/>
          <p:nvPr/>
        </p:nvSpPr>
        <p:spPr>
          <a:xfrm>
            <a:off x="457200" y="1874519"/>
            <a:ext cx="365760" cy="457200"/>
          </a:xfrm>
          <a:prstGeom prst="rect">
            <a:avLst/>
          </a:prstGeom>
          <a:noFill/>
        </p:spPr>
        <p:txBody>
          <a:bodyPr wrap="square" lIns="0" tIns="0" rIns="0" bIns="0" anchor="t">
            <a:spAutoFit/>
          </a:bodyPr>
          <a:lstStyle/>
          <a:p>
            <a:pPr>
              <a:spcAft>
                <a:spcPts val="0"/>
              </a:spcAft>
            </a:pPr>
            <a:r>
              <a:rPr sz="2600" b="1">
                <a:solidFill>
                  <a:schemeClr val="accent1"/>
                </a:solidFill>
                <a:latin typeface="+mj-lt"/>
              </a:rPr>
              <a:t>2</a:t>
            </a:r>
          </a:p>
        </p:txBody>
      </p:sp>
      <p:sp>
        <p:nvSpPr>
          <p:cNvPr id="10" name="anim h"/>
          <p:cNvSpPr txBox="1"/>
          <p:nvPr/>
        </p:nvSpPr>
        <p:spPr>
          <a:xfrm>
            <a:off x="914400" y="1892807"/>
            <a:ext cx="3566160" cy="237744"/>
          </a:xfrm>
          <a:prstGeom prst="rect">
            <a:avLst/>
          </a:prstGeom>
          <a:noFill/>
        </p:spPr>
        <p:txBody>
          <a:bodyPr wrap="square" lIns="0" tIns="0" rIns="0" bIns="0" anchor="t">
            <a:spAutoFit/>
          </a:bodyPr>
          <a:lstStyle/>
          <a:p>
            <a:pPr>
              <a:spcAft>
                <a:spcPts val="0"/>
              </a:spcAft>
            </a:pPr>
            <a:r>
              <a:rPr sz="1400" b="1">
                <a:solidFill>
                  <a:schemeClr val="tx1"/>
                </a:solidFill>
              </a:rPr>
              <a:t>Intent-Aware Filtering</a:t>
            </a:r>
          </a:p>
        </p:txBody>
      </p:sp>
      <p:sp>
        <p:nvSpPr>
          <p:cNvPr id="11" name="anim d"/>
          <p:cNvSpPr txBox="1"/>
          <p:nvPr/>
        </p:nvSpPr>
        <p:spPr>
          <a:xfrm>
            <a:off x="914400" y="2139696"/>
            <a:ext cx="3566160" cy="329184"/>
          </a:xfrm>
          <a:prstGeom prst="rect">
            <a:avLst/>
          </a:prstGeom>
          <a:noFill/>
        </p:spPr>
        <p:txBody>
          <a:bodyPr wrap="square" lIns="0" tIns="0" rIns="0" bIns="0" anchor="t">
            <a:spAutoFit/>
          </a:bodyPr>
          <a:lstStyle/>
          <a:p>
            <a:pPr>
              <a:spcAft>
                <a:spcPts val="0"/>
              </a:spcAft>
            </a:pPr>
            <a:r>
              <a:rPr sz="1100">
                <a:solidFill>
                  <a:schemeClr val="accent4"/>
                </a:solidFill>
              </a:rPr>
              <a:t>Reveal only what the task needs; keep the rest local.</a:t>
            </a:r>
          </a:p>
        </p:txBody>
      </p:sp>
      <p:sp>
        <p:nvSpPr>
          <p:cNvPr id="12" name="anim n"/>
          <p:cNvSpPr txBox="1"/>
          <p:nvPr/>
        </p:nvSpPr>
        <p:spPr>
          <a:xfrm>
            <a:off x="457200" y="2514600"/>
            <a:ext cx="365760" cy="457200"/>
          </a:xfrm>
          <a:prstGeom prst="rect">
            <a:avLst/>
          </a:prstGeom>
          <a:noFill/>
        </p:spPr>
        <p:txBody>
          <a:bodyPr wrap="square" lIns="0" tIns="0" rIns="0" bIns="0" anchor="t">
            <a:spAutoFit/>
          </a:bodyPr>
          <a:lstStyle/>
          <a:p>
            <a:pPr>
              <a:spcAft>
                <a:spcPts val="0"/>
              </a:spcAft>
            </a:pPr>
            <a:r>
              <a:rPr sz="2600" b="1">
                <a:solidFill>
                  <a:schemeClr val="accent1"/>
                </a:solidFill>
                <a:latin typeface="+mj-lt"/>
              </a:rPr>
              <a:t>3</a:t>
            </a:r>
          </a:p>
        </p:txBody>
      </p:sp>
      <p:sp>
        <p:nvSpPr>
          <p:cNvPr id="13" name="anim h"/>
          <p:cNvSpPr txBox="1"/>
          <p:nvPr/>
        </p:nvSpPr>
        <p:spPr>
          <a:xfrm>
            <a:off x="914400" y="2532888"/>
            <a:ext cx="3566160" cy="237744"/>
          </a:xfrm>
          <a:prstGeom prst="rect">
            <a:avLst/>
          </a:prstGeom>
          <a:noFill/>
        </p:spPr>
        <p:txBody>
          <a:bodyPr wrap="square" lIns="0" tIns="0" rIns="0" bIns="0" anchor="t">
            <a:spAutoFit/>
          </a:bodyPr>
          <a:lstStyle/>
          <a:p>
            <a:pPr>
              <a:spcAft>
                <a:spcPts val="0"/>
              </a:spcAft>
            </a:pPr>
            <a:r>
              <a:rPr sz="1400" b="1">
                <a:solidFill>
                  <a:schemeClr val="tx1"/>
                </a:solidFill>
              </a:rPr>
              <a:t>Privacy Time Machine</a:t>
            </a:r>
          </a:p>
        </p:txBody>
      </p:sp>
      <p:sp>
        <p:nvSpPr>
          <p:cNvPr id="14" name="anim d"/>
          <p:cNvSpPr txBox="1"/>
          <p:nvPr/>
        </p:nvSpPr>
        <p:spPr>
          <a:xfrm>
            <a:off x="914400" y="2779776"/>
            <a:ext cx="3566160" cy="329184"/>
          </a:xfrm>
          <a:prstGeom prst="rect">
            <a:avLst/>
          </a:prstGeom>
          <a:noFill/>
        </p:spPr>
        <p:txBody>
          <a:bodyPr wrap="square" lIns="0" tIns="0" rIns="0" bIns="0" anchor="t">
            <a:spAutoFit/>
          </a:bodyPr>
          <a:lstStyle/>
          <a:p>
            <a:pPr>
              <a:spcAft>
                <a:spcPts val="0"/>
              </a:spcAft>
            </a:pPr>
            <a:r>
              <a:rPr sz="1100">
                <a:solidFill>
                  <a:schemeClr val="accent4"/>
                </a:solidFill>
              </a:rPr>
              <a:t>Replay every decision. Stores categories, never values.</a:t>
            </a:r>
          </a:p>
        </p:txBody>
      </p:sp>
      <p:sp>
        <p:nvSpPr>
          <p:cNvPr id="15" name="anim n"/>
          <p:cNvSpPr txBox="1"/>
          <p:nvPr/>
        </p:nvSpPr>
        <p:spPr>
          <a:xfrm>
            <a:off x="457200" y="3154679"/>
            <a:ext cx="365760" cy="457200"/>
          </a:xfrm>
          <a:prstGeom prst="rect">
            <a:avLst/>
          </a:prstGeom>
          <a:noFill/>
        </p:spPr>
        <p:txBody>
          <a:bodyPr wrap="square" lIns="0" tIns="0" rIns="0" bIns="0" anchor="t">
            <a:spAutoFit/>
          </a:bodyPr>
          <a:lstStyle/>
          <a:p>
            <a:pPr>
              <a:spcAft>
                <a:spcPts val="0"/>
              </a:spcAft>
            </a:pPr>
            <a:r>
              <a:rPr sz="2600" b="1">
                <a:solidFill>
                  <a:schemeClr val="accent1"/>
                </a:solidFill>
                <a:latin typeface="+mj-lt"/>
              </a:rPr>
              <a:t>4</a:t>
            </a:r>
          </a:p>
        </p:txBody>
      </p:sp>
      <p:sp>
        <p:nvSpPr>
          <p:cNvPr id="16" name="anim h"/>
          <p:cNvSpPr txBox="1"/>
          <p:nvPr/>
        </p:nvSpPr>
        <p:spPr>
          <a:xfrm>
            <a:off x="914400" y="3172968"/>
            <a:ext cx="3566160" cy="237744"/>
          </a:xfrm>
          <a:prstGeom prst="rect">
            <a:avLst/>
          </a:prstGeom>
          <a:noFill/>
        </p:spPr>
        <p:txBody>
          <a:bodyPr wrap="square" lIns="0" tIns="0" rIns="0" bIns="0" anchor="t">
            <a:spAutoFit/>
          </a:bodyPr>
          <a:lstStyle/>
          <a:p>
            <a:pPr>
              <a:spcAft>
                <a:spcPts val="0"/>
              </a:spcAft>
            </a:pPr>
            <a:r>
              <a:rPr sz="1400" b="1">
                <a:solidFill>
                  <a:schemeClr val="tx1"/>
                </a:solidFill>
              </a:rPr>
              <a:t>Prompt-Injection Trap</a:t>
            </a:r>
          </a:p>
        </p:txBody>
      </p:sp>
      <p:sp>
        <p:nvSpPr>
          <p:cNvPr id="17" name="anim d"/>
          <p:cNvSpPr txBox="1"/>
          <p:nvPr/>
        </p:nvSpPr>
        <p:spPr>
          <a:xfrm>
            <a:off x="914400" y="3419856"/>
            <a:ext cx="3566160" cy="329184"/>
          </a:xfrm>
          <a:prstGeom prst="rect">
            <a:avLst/>
          </a:prstGeom>
          <a:noFill/>
        </p:spPr>
        <p:txBody>
          <a:bodyPr wrap="square" lIns="0" tIns="0" rIns="0" bIns="0" anchor="t">
            <a:spAutoFit/>
          </a:bodyPr>
          <a:lstStyle/>
          <a:p>
            <a:pPr>
              <a:spcAft>
                <a:spcPts val="0"/>
              </a:spcAft>
            </a:pPr>
            <a:r>
              <a:rPr sz="1100">
                <a:solidFill>
                  <a:schemeClr val="accent4"/>
                </a:solidFill>
              </a:rPr>
              <a:t>A malicious page versus the action validator, with reasons.</a:t>
            </a:r>
          </a:p>
        </p:txBody>
      </p:sp>
      <p:sp>
        <p:nvSpPr>
          <p:cNvPr id="18" name="anim n"/>
          <p:cNvSpPr txBox="1"/>
          <p:nvPr/>
        </p:nvSpPr>
        <p:spPr>
          <a:xfrm>
            <a:off x="457200" y="3794760"/>
            <a:ext cx="365760" cy="457200"/>
          </a:xfrm>
          <a:prstGeom prst="rect">
            <a:avLst/>
          </a:prstGeom>
          <a:noFill/>
        </p:spPr>
        <p:txBody>
          <a:bodyPr wrap="square" lIns="0" tIns="0" rIns="0" bIns="0" anchor="t">
            <a:spAutoFit/>
          </a:bodyPr>
          <a:lstStyle/>
          <a:p>
            <a:pPr>
              <a:spcAft>
                <a:spcPts val="0"/>
              </a:spcAft>
            </a:pPr>
            <a:r>
              <a:rPr sz="2600" b="1">
                <a:solidFill>
                  <a:schemeClr val="accent1"/>
                </a:solidFill>
                <a:latin typeface="+mj-lt"/>
              </a:rPr>
              <a:t>5</a:t>
            </a:r>
          </a:p>
        </p:txBody>
      </p:sp>
      <p:sp>
        <p:nvSpPr>
          <p:cNvPr id="19" name="anim h"/>
          <p:cNvSpPr txBox="1"/>
          <p:nvPr/>
        </p:nvSpPr>
        <p:spPr>
          <a:xfrm>
            <a:off x="914400" y="3813048"/>
            <a:ext cx="3566160" cy="237744"/>
          </a:xfrm>
          <a:prstGeom prst="rect">
            <a:avLst/>
          </a:prstGeom>
          <a:noFill/>
        </p:spPr>
        <p:txBody>
          <a:bodyPr wrap="square" lIns="0" tIns="0" rIns="0" bIns="0" anchor="t">
            <a:spAutoFit/>
          </a:bodyPr>
          <a:lstStyle/>
          <a:p>
            <a:pPr>
              <a:spcAft>
                <a:spcPts val="0"/>
              </a:spcAft>
            </a:pPr>
            <a:r>
              <a:rPr sz="1400" b="1">
                <a:solidFill>
                  <a:schemeClr val="tx1"/>
                </a:solidFill>
              </a:rPr>
              <a:t>Privacy X-Ray</a:t>
            </a:r>
          </a:p>
        </p:txBody>
      </p:sp>
      <p:sp>
        <p:nvSpPr>
          <p:cNvPr id="20" name="anim d"/>
          <p:cNvSpPr txBox="1"/>
          <p:nvPr/>
        </p:nvSpPr>
        <p:spPr>
          <a:xfrm>
            <a:off x="914400" y="4059936"/>
            <a:ext cx="3566160" cy="329184"/>
          </a:xfrm>
          <a:prstGeom prst="rect">
            <a:avLst/>
          </a:prstGeom>
          <a:noFill/>
        </p:spPr>
        <p:txBody>
          <a:bodyPr wrap="square" lIns="0" tIns="0" rIns="0" bIns="0" anchor="t">
            <a:spAutoFit/>
          </a:bodyPr>
          <a:lstStyle/>
          <a:p>
            <a:pPr>
              <a:spcAft>
                <a:spcPts val="0"/>
              </a:spcAft>
            </a:pPr>
            <a:r>
              <a:rPr sz="1100">
                <a:solidFill>
                  <a:schemeClr val="accent4"/>
                </a:solidFill>
              </a:rPr>
              <a:t>Original, scan and AI-visible views side by side.</a:t>
            </a:r>
          </a:p>
        </p:txBody>
      </p:sp>
      <p:sp>
        <p:nvSpPr>
          <p:cNvPr id="21" name="anim lab"/>
          <p:cNvSpPr txBox="1"/>
          <p:nvPr/>
        </p:nvSpPr>
        <p:spPr>
          <a:xfrm>
            <a:off x="4892040" y="987552"/>
            <a:ext cx="3794760" cy="201168"/>
          </a:xfrm>
          <a:prstGeom prst="rect">
            <a:avLst/>
          </a:prstGeom>
          <a:noFill/>
        </p:spPr>
        <p:txBody>
          <a:bodyPr wrap="square" lIns="0" tIns="0" rIns="0" bIns="0" anchor="t">
            <a:spAutoFit/>
          </a:bodyPr>
          <a:lstStyle/>
          <a:p>
            <a:pPr>
              <a:spcAft>
                <a:spcPts val="0"/>
              </a:spcAft>
            </a:pPr>
            <a:r>
              <a:rPr sz="1100" b="1">
                <a:solidFill>
                  <a:schemeClr val="accent1"/>
                </a:solidFill>
              </a:rPr>
              <a:t>VERSUS OTHER APPROACHES</a:t>
            </a:r>
          </a:p>
        </p:txBody>
      </p:sp>
      <p:graphicFrame>
        <p:nvGraphicFramePr>
          <p:cNvPr id="22" name="anim table"/>
          <p:cNvGraphicFramePr>
            <a:graphicFrameLocks noGrp="1"/>
          </p:cNvGraphicFramePr>
          <p:nvPr>
            <p:extLst>
              <p:ext uri="{D42A27DB-BD31-4B8C-83A1-F6EECF244321}">
                <p14:modId xmlns:p14="http://schemas.microsoft.com/office/powerpoint/2010/main" val="1579011935"/>
              </p:ext>
            </p:extLst>
          </p:nvPr>
        </p:nvGraphicFramePr>
        <p:xfrm>
          <a:off x="4892040" y="1234440"/>
          <a:ext cx="3794760" cy="2980944"/>
        </p:xfrm>
        <a:graphic>
          <a:graphicData uri="http://schemas.openxmlformats.org/drawingml/2006/table">
            <a:tbl>
              <a:tblPr/>
              <a:tblGrid>
                <a:gridCol w="1417320">
                  <a:extLst>
                    <a:ext uri="{9D8B030D-6E8A-4147-A177-3AD203B41FA5}">
                      <a16:colId xmlns:a16="http://schemas.microsoft.com/office/drawing/2014/main" val="20000"/>
                    </a:ext>
                  </a:extLst>
                </a:gridCol>
                <a:gridCol w="658368">
                  <a:extLst>
                    <a:ext uri="{9D8B030D-6E8A-4147-A177-3AD203B41FA5}">
                      <a16:colId xmlns:a16="http://schemas.microsoft.com/office/drawing/2014/main" val="20001"/>
                    </a:ext>
                  </a:extLst>
                </a:gridCol>
                <a:gridCol w="804672">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457200">
                <a:tc>
                  <a:txBody>
                    <a:bodyPr/>
                    <a:lstStyle/>
                    <a:p>
                      <a:pPr marL="0" indent="0">
                        <a:buNone/>
                      </a:pPr>
                      <a:r>
                        <a:rPr lang="en-US" sz="1100" b="1" dirty="0">
                          <a:solidFill>
                            <a:schemeClr val="bg1"/>
                          </a:solidFill>
                        </a:rPr>
                        <a:t>Capability</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lgn="ctr">
                        <a:buNone/>
                      </a:pPr>
                      <a:r>
                        <a:rPr lang="en-US" sz="1100" b="1" dirty="0">
                          <a:solidFill>
                            <a:schemeClr val="bg1"/>
                          </a:solidFill>
                        </a:rPr>
                        <a:t>Typical agent</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lgn="ctr">
                        <a:buNone/>
                      </a:pPr>
                      <a:r>
                        <a:rPr lang="en-US" sz="1100" b="1" dirty="0">
                          <a:solidFill>
                            <a:schemeClr val="bg1"/>
                          </a:solidFill>
                        </a:rPr>
                        <a:t>Redaction only</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lgn="ctr">
                        <a:buNone/>
                      </a:pPr>
                      <a:r>
                        <a:rPr lang="en-US" sz="1100" b="1" dirty="0">
                          <a:solidFill>
                            <a:schemeClr val="bg1"/>
                          </a:solidFill>
                        </a:rPr>
                        <a:t>PrivacyLens</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20624">
                <a:tc>
                  <a:txBody>
                    <a:bodyPr/>
                    <a:lstStyle/>
                    <a:p>
                      <a:pPr marL="0" indent="0">
                        <a:buNone/>
                      </a:pPr>
                      <a:r>
                        <a:rPr lang="en-US" sz="1000" dirty="0">
                          <a:solidFill>
                            <a:schemeClr val="tx1"/>
                          </a:solidFill>
                        </a:rPr>
                        <a:t>Hides real data from the LLM</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pPr>
                      <a:r>
                        <a:rPr lang="en-US" sz="1000" b="1" dirty="0">
                          <a:solidFill>
                            <a:schemeClr val="accent3"/>
                          </a:solidFill>
                        </a:rPr>
                        <a:t>No</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pPr>
                      <a:r>
                        <a:rPr lang="en-US" sz="1000" b="1" dirty="0">
                          <a:solidFill>
                            <a:schemeClr val="accent2"/>
                          </a:solidFill>
                        </a:rPr>
                        <a:t>Yes</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pPr>
                      <a:r>
                        <a:rPr lang="en-US" sz="1000" b="1" dirty="0">
                          <a:solidFill>
                            <a:schemeClr val="accent2"/>
                          </a:solidFill>
                        </a:rPr>
                        <a:t>Yes</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0624">
                <a:tc>
                  <a:txBody>
                    <a:bodyPr/>
                    <a:lstStyle/>
                    <a:p>
                      <a:pPr marL="0" indent="0">
                        <a:buNone/>
                      </a:pPr>
                      <a:r>
                        <a:rPr lang="en-US" sz="1000" dirty="0">
                          <a:solidFill>
                            <a:schemeClr val="tx1"/>
                          </a:solidFill>
                        </a:rPr>
                        <a:t>Page stays understandable to AI</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pPr>
                      <a:r>
                        <a:rPr lang="en-US" sz="1000" b="1" dirty="0">
                          <a:solidFill>
                            <a:schemeClr val="accent2"/>
                          </a:solidFill>
                        </a:rPr>
                        <a:t>Yes</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pPr>
                      <a:r>
                        <a:rPr lang="en-US" sz="1000" b="1" dirty="0">
                          <a:solidFill>
                            <a:schemeClr val="accent3"/>
                          </a:solidFill>
                        </a:rPr>
                        <a:t>No</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pPr>
                      <a:r>
                        <a:rPr lang="en-US" sz="1000" b="1" dirty="0">
                          <a:solidFill>
                            <a:schemeClr val="accent2"/>
                          </a:solidFill>
                        </a:rPr>
                        <a:t>Yes</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20624">
                <a:tc>
                  <a:txBody>
                    <a:bodyPr/>
                    <a:lstStyle/>
                    <a:p>
                      <a:pPr marL="0" indent="0">
                        <a:buNone/>
                      </a:pPr>
                      <a:r>
                        <a:rPr lang="en-US" sz="1000" dirty="0">
                          <a:solidFill>
                            <a:schemeClr val="tx1"/>
                          </a:solidFill>
                        </a:rPr>
                        <a:t>Fail-closed outgoing check</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pPr>
                      <a:r>
                        <a:rPr lang="en-US" sz="1000" b="1" dirty="0">
                          <a:solidFill>
                            <a:schemeClr val="accent3"/>
                          </a:solidFill>
                        </a:rPr>
                        <a:t>No</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pPr>
                      <a:r>
                        <a:rPr lang="en-US" sz="1000" b="1" dirty="0">
                          <a:solidFill>
                            <a:schemeClr val="accent3"/>
                          </a:solidFill>
                        </a:rPr>
                        <a:t>No</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pPr>
                      <a:r>
                        <a:rPr lang="en-US" sz="1000" b="1" dirty="0">
                          <a:solidFill>
                            <a:schemeClr val="accent2"/>
                          </a:solidFill>
                        </a:rPr>
                        <a:t>Yes</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0624">
                <a:tc>
                  <a:txBody>
                    <a:bodyPr/>
                    <a:lstStyle/>
                    <a:p>
                      <a:pPr marL="0" indent="0">
                        <a:buNone/>
                      </a:pPr>
                      <a:r>
                        <a:rPr lang="en-US" sz="1000" dirty="0">
                          <a:solidFill>
                            <a:schemeClr val="tx1"/>
                          </a:solidFill>
                        </a:rPr>
                        <a:t>Live leak-attack demo</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pPr>
                      <a:r>
                        <a:rPr lang="en-US" sz="1000" b="1" dirty="0">
                          <a:solidFill>
                            <a:schemeClr val="accent3"/>
                          </a:solidFill>
                        </a:rPr>
                        <a:t>No</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pPr>
                      <a:r>
                        <a:rPr lang="en-US" sz="1000" b="1" dirty="0">
                          <a:solidFill>
                            <a:schemeClr val="accent3"/>
                          </a:solidFill>
                        </a:rPr>
                        <a:t>No</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pPr>
                      <a:r>
                        <a:rPr lang="en-US" sz="1000" b="1" dirty="0">
                          <a:solidFill>
                            <a:schemeClr val="accent2"/>
                          </a:solidFill>
                        </a:rPr>
                        <a:t>Yes</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20624">
                <a:tc>
                  <a:txBody>
                    <a:bodyPr/>
                    <a:lstStyle/>
                    <a:p>
                      <a:pPr marL="0" indent="0">
                        <a:buNone/>
                      </a:pPr>
                      <a:r>
                        <a:rPr lang="en-US" sz="1000" dirty="0">
                          <a:solidFill>
                            <a:schemeClr val="tx1"/>
                          </a:solidFill>
                        </a:rPr>
                        <a:t>Intent-aware disclosure</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pPr>
                      <a:r>
                        <a:rPr lang="en-US" sz="1000" b="1" dirty="0">
                          <a:solidFill>
                            <a:schemeClr val="accent3"/>
                          </a:solidFill>
                        </a:rPr>
                        <a:t>No</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pPr>
                      <a:r>
                        <a:rPr lang="en-US" sz="1000" b="1" dirty="0">
                          <a:solidFill>
                            <a:schemeClr val="accent3"/>
                          </a:solidFill>
                        </a:rPr>
                        <a:t>No</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pPr>
                      <a:r>
                        <a:rPr lang="en-US" sz="1000" b="1" dirty="0">
                          <a:solidFill>
                            <a:schemeClr val="accent2"/>
                          </a:solidFill>
                        </a:rPr>
                        <a:t>Yes</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20624">
                <a:tc>
                  <a:txBody>
                    <a:bodyPr/>
                    <a:lstStyle/>
                    <a:p>
                      <a:pPr marL="0" indent="0">
                        <a:buNone/>
                      </a:pPr>
                      <a:r>
                        <a:rPr lang="en-US" sz="1000" dirty="0">
                          <a:solidFill>
                            <a:schemeClr val="tx1"/>
                          </a:solidFill>
                        </a:rPr>
                        <a:t>Prompt-injection defense</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pPr>
                      <a:r>
                        <a:rPr lang="en-US" sz="1000" b="1" dirty="0">
                          <a:solidFill>
                            <a:schemeClr val="accent3"/>
                          </a:solidFill>
                        </a:rPr>
                        <a:t>No</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pPr>
                      <a:r>
                        <a:rPr lang="en-US" sz="1000" b="1" dirty="0">
                          <a:solidFill>
                            <a:schemeClr val="accent1"/>
                          </a:solidFill>
                        </a:rPr>
                        <a:t>Partial</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pPr>
                      <a:r>
                        <a:rPr lang="en-US" sz="1000" b="1" dirty="0">
                          <a:solidFill>
                            <a:schemeClr val="accent2"/>
                          </a:solidFill>
                        </a:rPr>
                        <a:t>Yes</a:t>
                      </a:r>
                      <a:endParaRPr lang="en-US" sz="1200" dirty="0"/>
                    </a:p>
                  </a:txBody>
                  <a:tcPr marL="45720" marR="4572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3" name="anim note"/>
          <p:cNvSpPr txBox="1"/>
          <p:nvPr/>
        </p:nvSpPr>
        <p:spPr>
          <a:xfrm>
            <a:off x="4892040" y="4297680"/>
            <a:ext cx="3794760" cy="182880"/>
          </a:xfrm>
          <a:prstGeom prst="rect">
            <a:avLst/>
          </a:prstGeom>
          <a:noFill/>
        </p:spPr>
        <p:txBody>
          <a:bodyPr wrap="square" lIns="0" tIns="0" rIns="0" bIns="0" anchor="t">
            <a:spAutoFit/>
          </a:bodyPr>
          <a:lstStyle/>
          <a:p>
            <a:pPr>
              <a:spcAft>
                <a:spcPts val="0"/>
              </a:spcAft>
            </a:pPr>
            <a:r>
              <a:rPr sz="1000" i="1">
                <a:solidFill>
                  <a:schemeClr val="accent4"/>
                </a:solidFill>
              </a:rPr>
              <a:t>Capability categories, not named products.</a:t>
            </a:r>
          </a:p>
        </p:txBody>
      </p:sp>
      <p:sp>
        <p:nvSpPr>
          <p:cNvPr id="24" name="nav1">
            <a:hlinkClick r:id="rId3" action="ppaction://hlinksldjump" tooltip="1. Title"/>
          </p:cNvPr>
          <p:cNvSpPr/>
          <p:nvPr/>
        </p:nvSpPr>
        <p:spPr>
          <a:xfrm>
            <a:off x="3364991"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1</a:t>
            </a:r>
          </a:p>
        </p:txBody>
      </p:sp>
      <p:sp>
        <p:nvSpPr>
          <p:cNvPr id="25" name="nav2">
            <a:hlinkClick r:id="rId4" action="ppaction://hlinksldjump" tooltip="2. Problem"/>
          </p:cNvPr>
          <p:cNvSpPr/>
          <p:nvPr/>
        </p:nvSpPr>
        <p:spPr>
          <a:xfrm>
            <a:off x="3675887"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2</a:t>
            </a:r>
          </a:p>
        </p:txBody>
      </p:sp>
      <p:sp>
        <p:nvSpPr>
          <p:cNvPr id="26" name="nav3">
            <a:hlinkClick r:id="rId5" action="ppaction://hlinksldjump" tooltip="3. Idea"/>
          </p:cNvPr>
          <p:cNvSpPr/>
          <p:nvPr/>
        </p:nvSpPr>
        <p:spPr>
          <a:xfrm>
            <a:off x="3986783"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3</a:t>
            </a:r>
          </a:p>
        </p:txBody>
      </p:sp>
      <p:sp>
        <p:nvSpPr>
          <p:cNvPr id="27" name="nav4">
            <a:hlinkClick r:id="rId6" action="ppaction://hlinksldjump" tooltip="4. Architecture"/>
          </p:cNvPr>
          <p:cNvSpPr/>
          <p:nvPr/>
        </p:nvSpPr>
        <p:spPr>
          <a:xfrm>
            <a:off x="4297679"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4</a:t>
            </a:r>
          </a:p>
        </p:txBody>
      </p:sp>
      <p:sp>
        <p:nvSpPr>
          <p:cNvPr id="28" name="nav5">
            <a:hlinkClick r:id="rId7" action="ppaction://hlinksldjump" tooltip="5. Pipeline"/>
          </p:cNvPr>
          <p:cNvSpPr/>
          <p:nvPr/>
        </p:nvSpPr>
        <p:spPr>
          <a:xfrm>
            <a:off x="4608576"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5</a:t>
            </a:r>
          </a:p>
        </p:txBody>
      </p:sp>
      <p:sp>
        <p:nvSpPr>
          <p:cNvPr id="29" name="nav6">
            <a:hlinkClick r:id="rId8" action="ppaction://hlinksldjump" tooltip="6. Different"/>
          </p:cNvPr>
          <p:cNvSpPr/>
          <p:nvPr/>
        </p:nvSpPr>
        <p:spPr>
          <a:xfrm>
            <a:off x="4919472" y="472744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bg1"/>
                </a:solidFill>
              </a:rPr>
              <a:t>6</a:t>
            </a:r>
          </a:p>
        </p:txBody>
      </p:sp>
      <p:sp>
        <p:nvSpPr>
          <p:cNvPr id="30" name="nav7">
            <a:hlinkClick r:id="rId9" action="ppaction://hlinksldjump" tooltip="7. Proof"/>
          </p:cNvPr>
          <p:cNvSpPr/>
          <p:nvPr/>
        </p:nvSpPr>
        <p:spPr>
          <a:xfrm>
            <a:off x="5230368"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7</a:t>
            </a:r>
          </a:p>
        </p:txBody>
      </p:sp>
      <p:sp>
        <p:nvSpPr>
          <p:cNvPr id="31" name="nav8">
            <a:hlinkClick r:id="rId10" action="ppaction://hlinksldjump" tooltip="8. Roadmap"/>
          </p:cNvPr>
          <p:cNvSpPr/>
          <p:nvPr/>
        </p:nvSpPr>
        <p:spPr>
          <a:xfrm>
            <a:off x="5541264"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8</a:t>
            </a:r>
          </a:p>
        </p:txBody>
      </p:sp>
      <p:sp>
        <p:nvSpPr>
          <p:cNvPr id="32" name="prev">
            <a:hlinkClick r:id="rId7" action="ppaction://hlinksldjump" tooltip="Previous slide"/>
          </p:cNvPr>
          <p:cNvSpPr txBox="1"/>
          <p:nvPr/>
        </p:nvSpPr>
        <p:spPr>
          <a:xfrm>
            <a:off x="3054096" y="4700016"/>
            <a:ext cx="256032" cy="274320"/>
          </a:xfrm>
          <a:prstGeom prst="rect">
            <a:avLst/>
          </a:prstGeom>
          <a:noFill/>
        </p:spPr>
        <p:txBody>
          <a:bodyPr wrap="square" lIns="0" tIns="0" rIns="0" bIns="0" anchor="ctr">
            <a:spAutoFit/>
          </a:bodyPr>
          <a:lstStyle/>
          <a:p>
            <a:pPr algn="ctr">
              <a:spcAft>
                <a:spcPts val="0"/>
              </a:spcAft>
            </a:pPr>
            <a:r>
              <a:rPr sz="1800" b="1">
                <a:solidFill>
                  <a:schemeClr val="accent4"/>
                </a:solidFill>
              </a:rPr>
              <a:t>‹</a:t>
            </a:r>
          </a:p>
        </p:txBody>
      </p:sp>
      <p:sp>
        <p:nvSpPr>
          <p:cNvPr id="33" name="next">
            <a:hlinkClick r:id="rId9" action="ppaction://hlinksldjump" tooltip="Next slide"/>
          </p:cNvPr>
          <p:cNvSpPr txBox="1"/>
          <p:nvPr/>
        </p:nvSpPr>
        <p:spPr>
          <a:xfrm>
            <a:off x="5833872" y="4700016"/>
            <a:ext cx="256032" cy="274320"/>
          </a:xfrm>
          <a:prstGeom prst="rect">
            <a:avLst/>
          </a:prstGeom>
          <a:noFill/>
        </p:spPr>
        <p:txBody>
          <a:bodyPr wrap="square" lIns="0" tIns="0" rIns="0" bIns="0" anchor="ctr">
            <a:spAutoFit/>
          </a:bodyPr>
          <a:lstStyle/>
          <a:p>
            <a:pPr algn="ctr">
              <a:spcAft>
                <a:spcPts val="0"/>
              </a:spcAft>
            </a:pPr>
            <a:r>
              <a:rPr sz="1800" b="1">
                <a:solidFill>
                  <a:schemeClr val="accent4"/>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13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13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13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26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2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26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26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nodeType="withEffect">
                                  <p:stCondLst>
                                    <p:cond delay="39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39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39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39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nodeType="withEffect">
                                  <p:stCondLst>
                                    <p:cond delay="52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nodeType="withEffect">
                                  <p:stCondLst>
                                    <p:cond delay="52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52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nodeType="withEffect">
                                  <p:stCondLst>
                                    <p:cond delay="65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nodeType="withEffect">
                                  <p:stCondLst>
                                    <p:cond delay="65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nodeType="withEffect">
                                  <p:stCondLst>
                                    <p:cond delay="65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000" b="1" dirty="0">
                <a:solidFill>
                  <a:schemeClr val="tx1"/>
                </a:solidFill>
              </a:rPr>
              <a:t>Proof: measured, not promised</a:t>
            </a:r>
            <a:endParaRPr lang="en-US" sz="3000" dirty="0"/>
          </a:p>
        </p:txBody>
      </p:sp>
      <p:sp>
        <p:nvSpPr>
          <p:cNvPr id="3" name="text">
            <a:hlinkClick r:id="rId3" action="ppaction://hlinksldjump" tooltip="Back to title and topics"/>
          </p:cNvPr>
          <p:cNvSpPr txBox="1"/>
          <p:nvPr/>
        </p:nvSpPr>
        <p:spPr>
          <a:xfrm>
            <a:off x="457200" y="4786884"/>
            <a:ext cx="1097280" cy="228600"/>
          </a:xfrm>
          <a:prstGeom prst="rect">
            <a:avLst/>
          </a:prstGeom>
          <a:noFill/>
          <a:ln/>
        </p:spPr>
        <p:txBody>
          <a:bodyPr wrap="square" lIns="0" tIns="0" rIns="0" bIns="0" rtlCol="0" anchor="t"/>
          <a:lstStyle/>
          <a:p>
            <a:pPr marL="0" indent="0">
              <a:buNone/>
            </a:pPr>
            <a:r>
              <a:rPr lang="en-US" sz="1000" u="sng" dirty="0">
                <a:solidFill>
                  <a:schemeClr val="accent4"/>
                </a:solidFill>
              </a:rPr>
              <a:t>⌂ Home</a:t>
            </a:r>
            <a:endParaRPr lang="en-US" sz="1000" dirty="0"/>
          </a:p>
        </p:txBody>
      </p:sp>
      <p:sp>
        <p:nvSpPr>
          <p:cNvPr id="4"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7</a:t>
            </a:fld>
            <a:endParaRPr lang="en-US"/>
          </a:p>
        </p:txBody>
      </p:sp>
      <p:graphicFrame>
        <p:nvGraphicFramePr>
          <p:cNvPr id="13" name="anim table"/>
          <p:cNvGraphicFramePr>
            <a:graphicFrameLocks noGrp="1"/>
          </p:cNvGraphicFramePr>
          <p:nvPr>
            <p:extLst>
              <p:ext uri="{D42A27DB-BD31-4B8C-83A1-F6EECF244321}">
                <p14:modId xmlns:p14="http://schemas.microsoft.com/office/powerpoint/2010/main" val="2018523616"/>
              </p:ext>
            </p:extLst>
          </p:nvPr>
        </p:nvGraphicFramePr>
        <p:xfrm>
          <a:off x="457200" y="3936829"/>
          <a:ext cx="5522976" cy="685800"/>
        </p:xfrm>
        <a:graphic>
          <a:graphicData uri="http://schemas.openxmlformats.org/drawingml/2006/table">
            <a:tbl>
              <a:tblPr/>
              <a:tblGrid>
                <a:gridCol w="10058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322576">
                  <a:extLst>
                    <a:ext uri="{9D8B030D-6E8A-4147-A177-3AD203B41FA5}">
                      <a16:colId xmlns:a16="http://schemas.microsoft.com/office/drawing/2014/main" val="20002"/>
                    </a:ext>
                  </a:extLst>
                </a:gridCol>
              </a:tblGrid>
              <a:tr h="228600">
                <a:tc>
                  <a:txBody>
                    <a:bodyPr/>
                    <a:lstStyle/>
                    <a:p>
                      <a:pPr marL="0" indent="0">
                        <a:buNone/>
                      </a:pPr>
                      <a:r>
                        <a:rPr lang="en-US" sz="1100" b="1">
                          <a:solidFill>
                            <a:schemeClr val="bg1"/>
                          </a:solidFill>
                        </a:rPr>
                        <a:t>Field</a:t>
                      </a:r>
                      <a:endParaRPr lang="en-US" sz="1200" dirty="0"/>
                    </a:p>
                  </a:txBody>
                  <a:tcPr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buNone/>
                      </a:pPr>
                      <a:r>
                        <a:rPr lang="en-US" sz="1100" b="1">
                          <a:solidFill>
                            <a:schemeClr val="bg1"/>
                          </a:solidFill>
                        </a:rPr>
                        <a:t>Original (local only)</a:t>
                      </a:r>
                      <a:endParaRPr lang="en-US" sz="1200" dirty="0"/>
                    </a:p>
                  </a:txBody>
                  <a:tcPr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buNone/>
                      </a:pPr>
                      <a:r>
                        <a:rPr lang="en-US" sz="1100" b="1">
                          <a:solidFill>
                            <a:schemeClr val="bg1"/>
                          </a:solidFill>
                        </a:rPr>
                        <a:t>Text sent to LLM (synthetic)</a:t>
                      </a:r>
                      <a:endParaRPr lang="en-US" sz="1200" dirty="0"/>
                    </a:p>
                  </a:txBody>
                  <a:tcPr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28600">
                <a:tc>
                  <a:txBody>
                    <a:bodyPr/>
                    <a:lstStyle/>
                    <a:p>
                      <a:pPr marL="0" indent="0">
                        <a:buNone/>
                      </a:pPr>
                      <a:r>
                        <a:rPr lang="en-US" sz="1000" b="1">
                          <a:solidFill>
                            <a:schemeClr val="tx1"/>
                          </a:solidFill>
                        </a:rPr>
                        <a:t>Email</a:t>
                      </a:r>
                      <a:endParaRPr lang="en-US" sz="1200" dirty="0"/>
                    </a:p>
                  </a:txBody>
                  <a:tcPr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000">
                          <a:solidFill>
                            <a:schemeClr val="tx1"/>
                          </a:solidFill>
                        </a:rPr>
                        <a:t>priya.nair@mailtest.in</a:t>
                      </a:r>
                      <a:endParaRPr lang="en-US" sz="1200" dirty="0"/>
                    </a:p>
                  </a:txBody>
                  <a:tcPr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000" b="1" dirty="0">
                          <a:solidFill>
                            <a:schemeClr val="accent2"/>
                          </a:solidFill>
                        </a:rPr>
                        <a:t>alex.smith_481@example.com</a:t>
                      </a:r>
                      <a:endParaRPr lang="en-US" sz="1200" dirty="0"/>
                    </a:p>
                  </a:txBody>
                  <a:tcPr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228600">
                <a:tc>
                  <a:txBody>
                    <a:bodyPr/>
                    <a:lstStyle/>
                    <a:p>
                      <a:pPr marL="0" indent="0">
                        <a:buNone/>
                      </a:pPr>
                      <a:r>
                        <a:rPr lang="en-US" sz="1000" b="1" dirty="0">
                          <a:solidFill>
                            <a:schemeClr val="tx1"/>
                          </a:solidFill>
                        </a:rPr>
                        <a:t>Aadhaar</a:t>
                      </a:r>
                      <a:endParaRPr lang="en-US" sz="1200" dirty="0"/>
                    </a:p>
                  </a:txBody>
                  <a:tcPr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000" dirty="0">
                          <a:solidFill>
                            <a:schemeClr val="tx1"/>
                          </a:solidFill>
                        </a:rPr>
                        <a:t>2345 1860 9173</a:t>
                      </a:r>
                      <a:endParaRPr lang="en-US" sz="1200" dirty="0"/>
                    </a:p>
                  </a:txBody>
                  <a:tcPr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buNone/>
                      </a:pPr>
                      <a:r>
                        <a:rPr lang="en-US" sz="1000" b="1" dirty="0">
                          <a:solidFill>
                            <a:schemeClr val="accent2"/>
                          </a:solidFill>
                        </a:rPr>
                        <a:t>9999 0000 0016</a:t>
                      </a:r>
                      <a:endParaRPr lang="en-US" sz="1200" dirty="0"/>
                    </a:p>
                  </a:txBody>
                  <a:tcPr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21" name="nav1">
            <a:hlinkClick r:id="rId3" action="ppaction://hlinksldjump" tooltip="1. Title"/>
          </p:cNvPr>
          <p:cNvSpPr/>
          <p:nvPr/>
        </p:nvSpPr>
        <p:spPr>
          <a:xfrm>
            <a:off x="3364991"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1</a:t>
            </a:r>
          </a:p>
        </p:txBody>
      </p:sp>
      <p:sp>
        <p:nvSpPr>
          <p:cNvPr id="22" name="nav2">
            <a:hlinkClick r:id="rId4" action="ppaction://hlinksldjump" tooltip="2. Problem"/>
          </p:cNvPr>
          <p:cNvSpPr/>
          <p:nvPr/>
        </p:nvSpPr>
        <p:spPr>
          <a:xfrm>
            <a:off x="3675887"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2</a:t>
            </a:r>
          </a:p>
        </p:txBody>
      </p:sp>
      <p:sp>
        <p:nvSpPr>
          <p:cNvPr id="23" name="nav3">
            <a:hlinkClick r:id="rId5" action="ppaction://hlinksldjump" tooltip="3. Idea"/>
          </p:cNvPr>
          <p:cNvSpPr/>
          <p:nvPr/>
        </p:nvSpPr>
        <p:spPr>
          <a:xfrm>
            <a:off x="3986783"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3</a:t>
            </a:r>
          </a:p>
        </p:txBody>
      </p:sp>
      <p:sp>
        <p:nvSpPr>
          <p:cNvPr id="24" name="nav4">
            <a:hlinkClick r:id="rId6" action="ppaction://hlinksldjump" tooltip="4. Architecture"/>
          </p:cNvPr>
          <p:cNvSpPr/>
          <p:nvPr/>
        </p:nvSpPr>
        <p:spPr>
          <a:xfrm>
            <a:off x="4297679"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4</a:t>
            </a:r>
          </a:p>
        </p:txBody>
      </p:sp>
      <p:sp>
        <p:nvSpPr>
          <p:cNvPr id="25" name="nav5">
            <a:hlinkClick r:id="rId7" action="ppaction://hlinksldjump" tooltip="5. Pipeline"/>
          </p:cNvPr>
          <p:cNvSpPr/>
          <p:nvPr/>
        </p:nvSpPr>
        <p:spPr>
          <a:xfrm>
            <a:off x="4608576"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5</a:t>
            </a:r>
          </a:p>
        </p:txBody>
      </p:sp>
      <p:sp>
        <p:nvSpPr>
          <p:cNvPr id="26" name="nav6">
            <a:hlinkClick r:id="rId8" action="ppaction://hlinksldjump" tooltip="6. Different"/>
          </p:cNvPr>
          <p:cNvSpPr/>
          <p:nvPr/>
        </p:nvSpPr>
        <p:spPr>
          <a:xfrm>
            <a:off x="4919472"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6</a:t>
            </a:r>
          </a:p>
        </p:txBody>
      </p:sp>
      <p:sp>
        <p:nvSpPr>
          <p:cNvPr id="27" name="nav7">
            <a:hlinkClick r:id="rId9" action="ppaction://hlinksldjump" tooltip="7. Proof"/>
          </p:cNvPr>
          <p:cNvSpPr/>
          <p:nvPr/>
        </p:nvSpPr>
        <p:spPr>
          <a:xfrm>
            <a:off x="5230368" y="472744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bg1"/>
                </a:solidFill>
              </a:rPr>
              <a:t>7</a:t>
            </a:r>
          </a:p>
        </p:txBody>
      </p:sp>
      <p:sp>
        <p:nvSpPr>
          <p:cNvPr id="28" name="nav8">
            <a:hlinkClick r:id="rId10" action="ppaction://hlinksldjump" tooltip="8. Roadmap"/>
          </p:cNvPr>
          <p:cNvSpPr/>
          <p:nvPr/>
        </p:nvSpPr>
        <p:spPr>
          <a:xfrm>
            <a:off x="5541264" y="4727448"/>
            <a:ext cx="237744" cy="23774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8</a:t>
            </a:r>
          </a:p>
        </p:txBody>
      </p:sp>
      <p:sp>
        <p:nvSpPr>
          <p:cNvPr id="29" name="prev">
            <a:hlinkClick r:id="rId8" action="ppaction://hlinksldjump" tooltip="Previous slide"/>
          </p:cNvPr>
          <p:cNvSpPr txBox="1"/>
          <p:nvPr/>
        </p:nvSpPr>
        <p:spPr>
          <a:xfrm>
            <a:off x="3054096" y="4700016"/>
            <a:ext cx="256032" cy="274320"/>
          </a:xfrm>
          <a:prstGeom prst="rect">
            <a:avLst/>
          </a:prstGeom>
          <a:noFill/>
        </p:spPr>
        <p:txBody>
          <a:bodyPr wrap="square" lIns="0" tIns="0" rIns="0" bIns="0" anchor="ctr">
            <a:spAutoFit/>
          </a:bodyPr>
          <a:lstStyle/>
          <a:p>
            <a:pPr algn="ctr">
              <a:spcAft>
                <a:spcPts val="0"/>
              </a:spcAft>
            </a:pPr>
            <a:r>
              <a:rPr sz="1800" b="1">
                <a:solidFill>
                  <a:schemeClr val="accent4"/>
                </a:solidFill>
              </a:rPr>
              <a:t>‹</a:t>
            </a:r>
          </a:p>
        </p:txBody>
      </p:sp>
      <p:sp>
        <p:nvSpPr>
          <p:cNvPr id="30" name="next">
            <a:hlinkClick r:id="rId10" action="ppaction://hlinksldjump" tooltip="Next slide"/>
          </p:cNvPr>
          <p:cNvSpPr txBox="1"/>
          <p:nvPr/>
        </p:nvSpPr>
        <p:spPr>
          <a:xfrm>
            <a:off x="5833872" y="4700016"/>
            <a:ext cx="256032" cy="274320"/>
          </a:xfrm>
          <a:prstGeom prst="rect">
            <a:avLst/>
          </a:prstGeom>
          <a:noFill/>
        </p:spPr>
        <p:txBody>
          <a:bodyPr wrap="square" lIns="0" tIns="0" rIns="0" bIns="0" anchor="ctr">
            <a:spAutoFit/>
          </a:bodyPr>
          <a:lstStyle/>
          <a:p>
            <a:pPr algn="ctr">
              <a:spcAft>
                <a:spcPts val="0"/>
              </a:spcAft>
            </a:pPr>
            <a:r>
              <a:rPr sz="1800" b="1">
                <a:solidFill>
                  <a:schemeClr val="accent4"/>
                </a:solidFill>
              </a:rPr>
              <a:t>›</a:t>
            </a:r>
          </a:p>
        </p:txBody>
      </p:sp>
      <p:sp>
        <p:nvSpPr>
          <p:cNvPr id="33" name="anim num">
            <a:extLst>
              <a:ext uri="{FF2B5EF4-FFF2-40B4-BE49-F238E27FC236}">
                <a16:creationId xmlns:a16="http://schemas.microsoft.com/office/drawing/2014/main" id="{906BD248-5CCC-E16E-CA3D-C1C4301D17BD}"/>
              </a:ext>
            </a:extLst>
          </p:cNvPr>
          <p:cNvSpPr txBox="1"/>
          <p:nvPr/>
        </p:nvSpPr>
        <p:spPr>
          <a:xfrm>
            <a:off x="6309360" y="960120"/>
            <a:ext cx="914400" cy="365760"/>
          </a:xfrm>
          <a:prstGeom prst="rect">
            <a:avLst/>
          </a:prstGeom>
          <a:noFill/>
        </p:spPr>
        <p:txBody>
          <a:bodyPr wrap="square" lIns="0" tIns="0" rIns="0" bIns="0" anchor="t">
            <a:spAutoFit/>
          </a:bodyPr>
          <a:lstStyle/>
          <a:p>
            <a:pPr>
              <a:spcAft>
                <a:spcPts val="0"/>
              </a:spcAft>
            </a:pPr>
            <a:r>
              <a:rPr sz="2200" b="1">
                <a:solidFill>
                  <a:schemeClr val="accent1"/>
                </a:solidFill>
                <a:latin typeface="+mj-lt"/>
              </a:rPr>
              <a:t>19/19</a:t>
            </a:r>
          </a:p>
        </p:txBody>
      </p:sp>
      <p:sp>
        <p:nvSpPr>
          <p:cNvPr id="34" name="anim nl">
            <a:extLst>
              <a:ext uri="{FF2B5EF4-FFF2-40B4-BE49-F238E27FC236}">
                <a16:creationId xmlns:a16="http://schemas.microsoft.com/office/drawing/2014/main" id="{4124E191-5994-2BF5-822B-28BD78185D62}"/>
              </a:ext>
            </a:extLst>
          </p:cNvPr>
          <p:cNvSpPr txBox="1"/>
          <p:nvPr/>
        </p:nvSpPr>
        <p:spPr>
          <a:xfrm>
            <a:off x="6309360" y="1353312"/>
            <a:ext cx="914400" cy="329184"/>
          </a:xfrm>
          <a:prstGeom prst="rect">
            <a:avLst/>
          </a:prstGeom>
          <a:noFill/>
        </p:spPr>
        <p:txBody>
          <a:bodyPr wrap="square" lIns="0" tIns="0" rIns="0" bIns="0" anchor="t">
            <a:spAutoFit/>
          </a:bodyPr>
          <a:lstStyle/>
          <a:p>
            <a:pPr>
              <a:spcAft>
                <a:spcPts val="0"/>
              </a:spcAft>
            </a:pPr>
            <a:r>
              <a:rPr sz="1000">
                <a:solidFill>
                  <a:schemeClr val="accent4"/>
                </a:solidFill>
              </a:rPr>
              <a:t>secrets</a:t>
            </a:r>
          </a:p>
          <a:p>
            <a:pPr>
              <a:spcAft>
                <a:spcPts val="0"/>
              </a:spcAft>
            </a:pPr>
            <a:r>
              <a:rPr sz="1000">
                <a:solidFill>
                  <a:schemeClr val="accent4"/>
                </a:solidFill>
              </a:rPr>
              <a:t>detected</a:t>
            </a:r>
          </a:p>
        </p:txBody>
      </p:sp>
      <p:sp>
        <p:nvSpPr>
          <p:cNvPr id="35" name="anim num">
            <a:extLst>
              <a:ext uri="{FF2B5EF4-FFF2-40B4-BE49-F238E27FC236}">
                <a16:creationId xmlns:a16="http://schemas.microsoft.com/office/drawing/2014/main" id="{9825C340-671E-ACED-25DB-AA02424C537A}"/>
              </a:ext>
            </a:extLst>
          </p:cNvPr>
          <p:cNvSpPr txBox="1"/>
          <p:nvPr/>
        </p:nvSpPr>
        <p:spPr>
          <a:xfrm>
            <a:off x="7269480" y="960120"/>
            <a:ext cx="685800" cy="365760"/>
          </a:xfrm>
          <a:prstGeom prst="rect">
            <a:avLst/>
          </a:prstGeom>
          <a:noFill/>
        </p:spPr>
        <p:txBody>
          <a:bodyPr wrap="square" lIns="0" tIns="0" rIns="0" bIns="0" anchor="t">
            <a:spAutoFit/>
          </a:bodyPr>
          <a:lstStyle/>
          <a:p>
            <a:pPr>
              <a:spcAft>
                <a:spcPts val="0"/>
              </a:spcAft>
            </a:pPr>
            <a:r>
              <a:rPr sz="2200" b="1">
                <a:solidFill>
                  <a:schemeClr val="accent1"/>
                </a:solidFill>
                <a:latin typeface="+mj-lt"/>
              </a:rPr>
              <a:t>0</a:t>
            </a:r>
          </a:p>
        </p:txBody>
      </p:sp>
      <p:sp>
        <p:nvSpPr>
          <p:cNvPr id="36" name="anim nl">
            <a:extLst>
              <a:ext uri="{FF2B5EF4-FFF2-40B4-BE49-F238E27FC236}">
                <a16:creationId xmlns:a16="http://schemas.microsoft.com/office/drawing/2014/main" id="{55824B1F-0DED-6E34-36D3-2FB09A4D1DA1}"/>
              </a:ext>
            </a:extLst>
          </p:cNvPr>
          <p:cNvSpPr txBox="1"/>
          <p:nvPr/>
        </p:nvSpPr>
        <p:spPr>
          <a:xfrm>
            <a:off x="7269480" y="1353312"/>
            <a:ext cx="685800" cy="329184"/>
          </a:xfrm>
          <a:prstGeom prst="rect">
            <a:avLst/>
          </a:prstGeom>
          <a:noFill/>
        </p:spPr>
        <p:txBody>
          <a:bodyPr wrap="square" lIns="0" tIns="0" rIns="0" bIns="0" anchor="t">
            <a:spAutoFit/>
          </a:bodyPr>
          <a:lstStyle/>
          <a:p>
            <a:pPr>
              <a:spcAft>
                <a:spcPts val="0"/>
              </a:spcAft>
            </a:pPr>
            <a:r>
              <a:rPr sz="1000">
                <a:solidFill>
                  <a:schemeClr val="accent4"/>
                </a:solidFill>
              </a:rPr>
              <a:t>originals</a:t>
            </a:r>
          </a:p>
          <a:p>
            <a:pPr>
              <a:spcAft>
                <a:spcPts val="0"/>
              </a:spcAft>
            </a:pPr>
            <a:r>
              <a:rPr sz="1000">
                <a:solidFill>
                  <a:schemeClr val="accent4"/>
                </a:solidFill>
              </a:rPr>
              <a:t>leaked</a:t>
            </a:r>
          </a:p>
        </p:txBody>
      </p:sp>
      <p:sp>
        <p:nvSpPr>
          <p:cNvPr id="37" name="anim num">
            <a:extLst>
              <a:ext uri="{FF2B5EF4-FFF2-40B4-BE49-F238E27FC236}">
                <a16:creationId xmlns:a16="http://schemas.microsoft.com/office/drawing/2014/main" id="{763D8F46-8765-73B6-9CEB-BA3C822A6B19}"/>
              </a:ext>
            </a:extLst>
          </p:cNvPr>
          <p:cNvSpPr txBox="1"/>
          <p:nvPr/>
        </p:nvSpPr>
        <p:spPr>
          <a:xfrm>
            <a:off x="8001000" y="960120"/>
            <a:ext cx="685800" cy="365760"/>
          </a:xfrm>
          <a:prstGeom prst="rect">
            <a:avLst/>
          </a:prstGeom>
          <a:noFill/>
        </p:spPr>
        <p:txBody>
          <a:bodyPr wrap="square" lIns="0" tIns="0" rIns="0" bIns="0" anchor="t">
            <a:spAutoFit/>
          </a:bodyPr>
          <a:lstStyle/>
          <a:p>
            <a:pPr>
              <a:spcAft>
                <a:spcPts val="0"/>
              </a:spcAft>
            </a:pPr>
            <a:r>
              <a:rPr sz="2200" b="1">
                <a:solidFill>
                  <a:schemeClr val="accent1"/>
                </a:solidFill>
                <a:latin typeface="+mj-lt"/>
              </a:rPr>
              <a:t>5/5</a:t>
            </a:r>
          </a:p>
        </p:txBody>
      </p:sp>
      <p:sp>
        <p:nvSpPr>
          <p:cNvPr id="38" name="anim nl">
            <a:extLst>
              <a:ext uri="{FF2B5EF4-FFF2-40B4-BE49-F238E27FC236}">
                <a16:creationId xmlns:a16="http://schemas.microsoft.com/office/drawing/2014/main" id="{7AA9A438-CC25-897F-62A2-B9751487B0F9}"/>
              </a:ext>
            </a:extLst>
          </p:cNvPr>
          <p:cNvSpPr txBox="1"/>
          <p:nvPr/>
        </p:nvSpPr>
        <p:spPr>
          <a:xfrm>
            <a:off x="8001000" y="1353312"/>
            <a:ext cx="685800" cy="329184"/>
          </a:xfrm>
          <a:prstGeom prst="rect">
            <a:avLst/>
          </a:prstGeom>
          <a:noFill/>
        </p:spPr>
        <p:txBody>
          <a:bodyPr wrap="square" lIns="0" tIns="0" rIns="0" bIns="0" anchor="t">
            <a:spAutoFit/>
          </a:bodyPr>
          <a:lstStyle/>
          <a:p>
            <a:pPr>
              <a:spcAft>
                <a:spcPts val="0"/>
              </a:spcAft>
            </a:pPr>
            <a:r>
              <a:rPr sz="1000">
                <a:solidFill>
                  <a:schemeClr val="accent4"/>
                </a:solidFill>
              </a:rPr>
              <a:t>payloads</a:t>
            </a:r>
          </a:p>
          <a:p>
            <a:pPr>
              <a:spcAft>
                <a:spcPts val="0"/>
              </a:spcAft>
            </a:pPr>
            <a:r>
              <a:rPr sz="1000">
                <a:solidFill>
                  <a:schemeClr val="accent4"/>
                </a:solidFill>
              </a:rPr>
              <a:t>blocked</a:t>
            </a:r>
          </a:p>
        </p:txBody>
      </p:sp>
      <p:pic>
        <p:nvPicPr>
          <p:cNvPr id="40" name="Picture 39">
            <a:extLst>
              <a:ext uri="{FF2B5EF4-FFF2-40B4-BE49-F238E27FC236}">
                <a16:creationId xmlns:a16="http://schemas.microsoft.com/office/drawing/2014/main" id="{27B37E60-A8D7-D809-01FC-DB87542C097C}"/>
              </a:ext>
            </a:extLst>
          </p:cNvPr>
          <p:cNvPicPr>
            <a:picLocks noChangeAspect="1"/>
          </p:cNvPicPr>
          <p:nvPr/>
        </p:nvPicPr>
        <p:blipFill>
          <a:blip r:embed="rId11"/>
          <a:srcRect r="5075"/>
          <a:stretch>
            <a:fillRect/>
          </a:stretch>
        </p:blipFill>
        <p:spPr>
          <a:xfrm>
            <a:off x="6292628" y="2084276"/>
            <a:ext cx="2778220" cy="2802211"/>
          </a:xfrm>
          <a:prstGeom prst="rect">
            <a:avLst/>
          </a:prstGeom>
        </p:spPr>
      </p:pic>
      <p:pic>
        <p:nvPicPr>
          <p:cNvPr id="20" name="Picture 19">
            <a:extLst>
              <a:ext uri="{FF2B5EF4-FFF2-40B4-BE49-F238E27FC236}">
                <a16:creationId xmlns:a16="http://schemas.microsoft.com/office/drawing/2014/main" id="{83026E55-02BD-24D0-CE30-F760DFEF9652}"/>
              </a:ext>
            </a:extLst>
          </p:cNvPr>
          <p:cNvPicPr>
            <a:picLocks noChangeAspect="1"/>
          </p:cNvPicPr>
          <p:nvPr/>
        </p:nvPicPr>
        <p:blipFill>
          <a:blip r:embed="rId12"/>
          <a:srcRect l="70600"/>
          <a:stretch>
            <a:fillRect/>
          </a:stretch>
        </p:blipFill>
        <p:spPr>
          <a:xfrm>
            <a:off x="4710716" y="1143000"/>
            <a:ext cx="1581912" cy="2612978"/>
          </a:xfrm>
          <a:prstGeom prst="rect">
            <a:avLst/>
          </a:prstGeom>
        </p:spPr>
      </p:pic>
      <p:pic>
        <p:nvPicPr>
          <p:cNvPr id="41" name="Picture 40">
            <a:extLst>
              <a:ext uri="{FF2B5EF4-FFF2-40B4-BE49-F238E27FC236}">
                <a16:creationId xmlns:a16="http://schemas.microsoft.com/office/drawing/2014/main" id="{4CA81F86-65B1-3D09-3887-67B8BE616C29}"/>
              </a:ext>
            </a:extLst>
          </p:cNvPr>
          <p:cNvPicPr>
            <a:picLocks noChangeAspect="1"/>
          </p:cNvPicPr>
          <p:nvPr/>
        </p:nvPicPr>
        <p:blipFill>
          <a:blip r:embed="rId13"/>
          <a:srcRect l="23423"/>
          <a:stretch>
            <a:fillRect/>
          </a:stretch>
        </p:blipFill>
        <p:spPr>
          <a:xfrm>
            <a:off x="1640166" y="1325880"/>
            <a:ext cx="3112951" cy="2012232"/>
          </a:xfrm>
          <a:prstGeom prst="rect">
            <a:avLst/>
          </a:prstGeom>
        </p:spPr>
      </p:pic>
      <p:pic>
        <p:nvPicPr>
          <p:cNvPr id="43" name="Picture 42">
            <a:extLst>
              <a:ext uri="{FF2B5EF4-FFF2-40B4-BE49-F238E27FC236}">
                <a16:creationId xmlns:a16="http://schemas.microsoft.com/office/drawing/2014/main" id="{24340173-4282-902C-D79D-F7DA8A5F66D2}"/>
              </a:ext>
            </a:extLst>
          </p:cNvPr>
          <p:cNvPicPr>
            <a:picLocks noChangeAspect="1"/>
          </p:cNvPicPr>
          <p:nvPr/>
        </p:nvPicPr>
        <p:blipFill>
          <a:blip r:embed="rId14"/>
          <a:srcRect l="71400"/>
          <a:stretch>
            <a:fillRect/>
          </a:stretch>
        </p:blipFill>
        <p:spPr>
          <a:xfrm>
            <a:off x="7978" y="1060868"/>
            <a:ext cx="1625211" cy="28022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9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52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par>
                                <p:cTn id="11" presetID="10" presetClass="entr" presetSubtype="0" fill="hold" nodeType="withEffect">
                                  <p:stCondLst>
                                    <p:cond delay="52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500"/>
                                        <p:tgtEl>
                                          <p:spTgt spid="34"/>
                                        </p:tgtEl>
                                      </p:cBhvr>
                                    </p:animEffect>
                                  </p:childTnLst>
                                </p:cTn>
                              </p:par>
                              <p:par>
                                <p:cTn id="14" presetID="10" presetClass="entr" presetSubtype="0" fill="hold" nodeType="withEffect">
                                  <p:stCondLst>
                                    <p:cond delay="52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500"/>
                                        <p:tgtEl>
                                          <p:spTgt spid="35"/>
                                        </p:tgtEl>
                                      </p:cBhvr>
                                    </p:animEffect>
                                  </p:childTnLst>
                                </p:cTn>
                              </p:par>
                              <p:par>
                                <p:cTn id="17" presetID="10" presetClass="entr" presetSubtype="0" fill="hold" nodeType="withEffect">
                                  <p:stCondLst>
                                    <p:cond delay="52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par>
                                <p:cTn id="20" presetID="10" presetClass="entr" presetSubtype="0" fill="hold" nodeType="withEffect">
                                  <p:stCondLst>
                                    <p:cond delay="52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500"/>
                                        <p:tgtEl>
                                          <p:spTgt spid="37"/>
                                        </p:tgtEl>
                                      </p:cBhvr>
                                    </p:animEffect>
                                  </p:childTnLst>
                                </p:cTn>
                              </p:par>
                              <p:par>
                                <p:cTn id="23" presetID="10" presetClass="entr" presetSubtype="0" fill="hold" nodeType="withEffect">
                                  <p:stCondLst>
                                    <p:cond delay="52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nim head"/>
          <p:cNvSpPr txBox="1"/>
          <p:nvPr/>
        </p:nvSpPr>
        <p:spPr>
          <a:xfrm>
            <a:off x="548640" y="502920"/>
            <a:ext cx="4937760" cy="1371600"/>
          </a:xfrm>
          <a:prstGeom prst="rect">
            <a:avLst/>
          </a:prstGeom>
          <a:noFill/>
        </p:spPr>
        <p:txBody>
          <a:bodyPr wrap="square" lIns="0" tIns="0" rIns="0" bIns="0" anchor="t">
            <a:spAutoFit/>
          </a:bodyPr>
          <a:lstStyle/>
          <a:p>
            <a:pPr>
              <a:spcAft>
                <a:spcPts val="0"/>
              </a:spcAft>
            </a:pPr>
            <a:r>
              <a:rPr sz="3600" b="1">
                <a:solidFill>
                  <a:schemeClr val="bg1"/>
                </a:solidFill>
                <a:latin typeface="+mj-lt"/>
              </a:rPr>
              <a:t>Secrets stay local.</a:t>
            </a:r>
          </a:p>
          <a:p>
            <a:pPr>
              <a:spcAft>
                <a:spcPts val="0"/>
              </a:spcAft>
            </a:pPr>
            <a:r>
              <a:rPr sz="3600" b="1">
                <a:solidFill>
                  <a:schemeClr val="accent1"/>
                </a:solidFill>
                <a:latin typeface="+mj-lt"/>
              </a:rPr>
              <a:t>Agents stay smart.</a:t>
            </a:r>
          </a:p>
        </p:txBody>
      </p:sp>
      <p:sp>
        <p:nvSpPr>
          <p:cNvPr id="3" name="anim sub"/>
          <p:cNvSpPr txBox="1"/>
          <p:nvPr/>
        </p:nvSpPr>
        <p:spPr>
          <a:xfrm>
            <a:off x="548640" y="1783080"/>
            <a:ext cx="4754880" cy="731520"/>
          </a:xfrm>
          <a:prstGeom prst="rect">
            <a:avLst/>
          </a:prstGeom>
          <a:noFill/>
        </p:spPr>
        <p:txBody>
          <a:bodyPr wrap="square" lIns="0" tIns="0" rIns="0" bIns="0" anchor="t">
            <a:spAutoFit/>
          </a:bodyPr>
          <a:lstStyle/>
          <a:p>
            <a:pPr>
              <a:spcAft>
                <a:spcPts val="0"/>
              </a:spcAft>
            </a:pPr>
            <a:r>
              <a:rPr sz="1400">
                <a:solidFill>
                  <a:schemeClr val="accent5"/>
                </a:solidFill>
              </a:rPr>
              <a:t>Synthetic substitution and a fail-closed firewall let an AI agent work on real interfaces without ever seeing real data.</a:t>
            </a:r>
          </a:p>
        </p:txBody>
      </p:sp>
      <p:sp>
        <p:nvSpPr>
          <p:cNvPr id="4" name="anim num"/>
          <p:cNvSpPr txBox="1"/>
          <p:nvPr/>
        </p:nvSpPr>
        <p:spPr>
          <a:xfrm>
            <a:off x="5486400" y="640080"/>
            <a:ext cx="1280160" cy="457200"/>
          </a:xfrm>
          <a:prstGeom prst="rect">
            <a:avLst/>
          </a:prstGeom>
          <a:noFill/>
        </p:spPr>
        <p:txBody>
          <a:bodyPr wrap="square" lIns="0" tIns="0" rIns="0" bIns="0" anchor="t">
            <a:spAutoFit/>
          </a:bodyPr>
          <a:lstStyle/>
          <a:p>
            <a:pPr>
              <a:spcAft>
                <a:spcPts val="0"/>
              </a:spcAft>
            </a:pPr>
            <a:r>
              <a:rPr sz="2800" b="1">
                <a:solidFill>
                  <a:schemeClr val="bg1"/>
                </a:solidFill>
                <a:latin typeface="+mj-lt"/>
              </a:rPr>
              <a:t>19/19</a:t>
            </a:r>
          </a:p>
        </p:txBody>
      </p:sp>
      <p:sp>
        <p:nvSpPr>
          <p:cNvPr id="5" name="anim nl"/>
          <p:cNvSpPr txBox="1"/>
          <p:nvPr/>
        </p:nvSpPr>
        <p:spPr>
          <a:xfrm>
            <a:off x="5486400" y="1143000"/>
            <a:ext cx="1280160" cy="411480"/>
          </a:xfrm>
          <a:prstGeom prst="rect">
            <a:avLst/>
          </a:prstGeom>
          <a:noFill/>
        </p:spPr>
        <p:txBody>
          <a:bodyPr wrap="square" lIns="0" tIns="0" rIns="0" bIns="0" anchor="t">
            <a:spAutoFit/>
          </a:bodyPr>
          <a:lstStyle/>
          <a:p>
            <a:pPr>
              <a:spcAft>
                <a:spcPts val="0"/>
              </a:spcAft>
            </a:pPr>
            <a:r>
              <a:rPr sz="1100">
                <a:solidFill>
                  <a:schemeClr val="accent5"/>
                </a:solidFill>
              </a:rPr>
              <a:t>secrets</a:t>
            </a:r>
          </a:p>
          <a:p>
            <a:pPr>
              <a:spcAft>
                <a:spcPts val="0"/>
              </a:spcAft>
            </a:pPr>
            <a:r>
              <a:rPr sz="1100">
                <a:solidFill>
                  <a:schemeClr val="accent5"/>
                </a:solidFill>
              </a:rPr>
              <a:t>detected</a:t>
            </a:r>
          </a:p>
        </p:txBody>
      </p:sp>
      <p:sp>
        <p:nvSpPr>
          <p:cNvPr id="6" name="anim num"/>
          <p:cNvSpPr txBox="1"/>
          <p:nvPr/>
        </p:nvSpPr>
        <p:spPr>
          <a:xfrm>
            <a:off x="6858000" y="640080"/>
            <a:ext cx="868680" cy="457200"/>
          </a:xfrm>
          <a:prstGeom prst="rect">
            <a:avLst/>
          </a:prstGeom>
          <a:noFill/>
        </p:spPr>
        <p:txBody>
          <a:bodyPr wrap="square" lIns="0" tIns="0" rIns="0" bIns="0" anchor="t">
            <a:spAutoFit/>
          </a:bodyPr>
          <a:lstStyle/>
          <a:p>
            <a:pPr>
              <a:spcAft>
                <a:spcPts val="0"/>
              </a:spcAft>
            </a:pPr>
            <a:r>
              <a:rPr sz="2800" b="1">
                <a:solidFill>
                  <a:schemeClr val="bg1"/>
                </a:solidFill>
                <a:latin typeface="+mj-lt"/>
              </a:rPr>
              <a:t>0</a:t>
            </a:r>
          </a:p>
        </p:txBody>
      </p:sp>
      <p:sp>
        <p:nvSpPr>
          <p:cNvPr id="7" name="anim nl"/>
          <p:cNvSpPr txBox="1"/>
          <p:nvPr/>
        </p:nvSpPr>
        <p:spPr>
          <a:xfrm>
            <a:off x="6858000" y="1143000"/>
            <a:ext cx="868680" cy="411480"/>
          </a:xfrm>
          <a:prstGeom prst="rect">
            <a:avLst/>
          </a:prstGeom>
          <a:noFill/>
        </p:spPr>
        <p:txBody>
          <a:bodyPr wrap="square" lIns="0" tIns="0" rIns="0" bIns="0" anchor="t">
            <a:spAutoFit/>
          </a:bodyPr>
          <a:lstStyle/>
          <a:p>
            <a:pPr>
              <a:spcAft>
                <a:spcPts val="0"/>
              </a:spcAft>
            </a:pPr>
            <a:r>
              <a:rPr sz="1100">
                <a:solidFill>
                  <a:schemeClr val="accent5"/>
                </a:solidFill>
              </a:rPr>
              <a:t>originals</a:t>
            </a:r>
          </a:p>
          <a:p>
            <a:pPr>
              <a:spcAft>
                <a:spcPts val="0"/>
              </a:spcAft>
            </a:pPr>
            <a:r>
              <a:rPr sz="1100">
                <a:solidFill>
                  <a:schemeClr val="accent5"/>
                </a:solidFill>
              </a:rPr>
              <a:t>leaked</a:t>
            </a:r>
          </a:p>
        </p:txBody>
      </p:sp>
      <p:sp>
        <p:nvSpPr>
          <p:cNvPr id="8" name="anim num"/>
          <p:cNvSpPr txBox="1"/>
          <p:nvPr/>
        </p:nvSpPr>
        <p:spPr>
          <a:xfrm>
            <a:off x="7818120" y="640080"/>
            <a:ext cx="868680" cy="457200"/>
          </a:xfrm>
          <a:prstGeom prst="rect">
            <a:avLst/>
          </a:prstGeom>
          <a:noFill/>
        </p:spPr>
        <p:txBody>
          <a:bodyPr wrap="square" lIns="0" tIns="0" rIns="0" bIns="0" anchor="t">
            <a:spAutoFit/>
          </a:bodyPr>
          <a:lstStyle/>
          <a:p>
            <a:pPr>
              <a:spcAft>
                <a:spcPts val="0"/>
              </a:spcAft>
            </a:pPr>
            <a:r>
              <a:rPr sz="2800" b="1">
                <a:solidFill>
                  <a:schemeClr val="bg1"/>
                </a:solidFill>
                <a:latin typeface="+mj-lt"/>
              </a:rPr>
              <a:t>5/5</a:t>
            </a:r>
          </a:p>
        </p:txBody>
      </p:sp>
      <p:sp>
        <p:nvSpPr>
          <p:cNvPr id="9" name="anim nl"/>
          <p:cNvSpPr txBox="1"/>
          <p:nvPr/>
        </p:nvSpPr>
        <p:spPr>
          <a:xfrm>
            <a:off x="7818120" y="1143000"/>
            <a:ext cx="868680" cy="411480"/>
          </a:xfrm>
          <a:prstGeom prst="rect">
            <a:avLst/>
          </a:prstGeom>
          <a:noFill/>
        </p:spPr>
        <p:txBody>
          <a:bodyPr wrap="square" lIns="0" tIns="0" rIns="0" bIns="0" anchor="t">
            <a:spAutoFit/>
          </a:bodyPr>
          <a:lstStyle/>
          <a:p>
            <a:pPr>
              <a:spcAft>
                <a:spcPts val="0"/>
              </a:spcAft>
            </a:pPr>
            <a:r>
              <a:rPr sz="1100">
                <a:solidFill>
                  <a:schemeClr val="accent5"/>
                </a:solidFill>
              </a:rPr>
              <a:t>payloads</a:t>
            </a:r>
          </a:p>
          <a:p>
            <a:pPr>
              <a:spcAft>
                <a:spcPts val="0"/>
              </a:spcAft>
            </a:pPr>
            <a:r>
              <a:rPr sz="1100">
                <a:solidFill>
                  <a:schemeClr val="accent5"/>
                </a:solidFill>
              </a:rPr>
              <a:t>blocked</a:t>
            </a:r>
          </a:p>
        </p:txBody>
      </p:sp>
      <p:sp>
        <p:nvSpPr>
          <p:cNvPr id="11" name="anim fs"/>
          <p:cNvSpPr txBox="1"/>
          <p:nvPr/>
        </p:nvSpPr>
        <p:spPr>
          <a:xfrm>
            <a:off x="548640" y="2606040"/>
            <a:ext cx="4572000" cy="228600"/>
          </a:xfrm>
          <a:prstGeom prst="rect">
            <a:avLst/>
          </a:prstGeom>
          <a:noFill/>
        </p:spPr>
        <p:txBody>
          <a:bodyPr wrap="square" lIns="0" tIns="0" rIns="0" bIns="0" anchor="t">
            <a:spAutoFit/>
          </a:bodyPr>
          <a:lstStyle/>
          <a:p>
            <a:pPr>
              <a:spcAft>
                <a:spcPts val="0"/>
              </a:spcAft>
            </a:pPr>
            <a:r>
              <a:rPr sz="1200" b="1">
                <a:solidFill>
                  <a:schemeClr val="accent6"/>
                </a:solidFill>
              </a:rPr>
              <a:t>FUTURE SCOPE</a:t>
            </a:r>
          </a:p>
        </p:txBody>
      </p:sp>
      <p:sp>
        <p:nvSpPr>
          <p:cNvPr id="12" name="anim card"/>
          <p:cNvSpPr/>
          <p:nvPr/>
        </p:nvSpPr>
        <p:spPr>
          <a:xfrm>
            <a:off x="548640" y="2926080"/>
            <a:ext cx="2560320" cy="1508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anim k"/>
          <p:cNvSpPr txBox="1"/>
          <p:nvPr/>
        </p:nvSpPr>
        <p:spPr>
          <a:xfrm>
            <a:off x="713232" y="3035808"/>
            <a:ext cx="2240280" cy="201168"/>
          </a:xfrm>
          <a:prstGeom prst="rect">
            <a:avLst/>
          </a:prstGeom>
          <a:noFill/>
        </p:spPr>
        <p:txBody>
          <a:bodyPr wrap="square" lIns="0" tIns="0" rIns="0" bIns="0" anchor="t">
            <a:spAutoFit/>
          </a:bodyPr>
          <a:lstStyle/>
          <a:p>
            <a:pPr>
              <a:spcAft>
                <a:spcPts val="0"/>
              </a:spcAft>
            </a:pPr>
            <a:r>
              <a:rPr sz="1100" b="1">
                <a:solidFill>
                  <a:schemeClr val="accent1"/>
                </a:solidFill>
              </a:rPr>
              <a:t>NOW</a:t>
            </a:r>
          </a:p>
        </p:txBody>
      </p:sp>
      <p:sp>
        <p:nvSpPr>
          <p:cNvPr id="14" name="anim t"/>
          <p:cNvSpPr txBox="1"/>
          <p:nvPr/>
        </p:nvSpPr>
        <p:spPr>
          <a:xfrm>
            <a:off x="713232" y="3273552"/>
            <a:ext cx="2240280" cy="292608"/>
          </a:xfrm>
          <a:prstGeom prst="rect">
            <a:avLst/>
          </a:prstGeom>
          <a:noFill/>
        </p:spPr>
        <p:txBody>
          <a:bodyPr wrap="square" lIns="0" tIns="0" rIns="0" bIns="0" anchor="t">
            <a:spAutoFit/>
          </a:bodyPr>
          <a:lstStyle/>
          <a:p>
            <a:pPr>
              <a:spcAft>
                <a:spcPts val="0"/>
              </a:spcAft>
            </a:pPr>
            <a:r>
              <a:rPr sz="1700" b="1">
                <a:solidFill>
                  <a:schemeClr val="bg1"/>
                </a:solidFill>
                <a:latin typeface="+mj-lt"/>
              </a:rPr>
              <a:t>Mosaic Shield</a:t>
            </a:r>
          </a:p>
        </p:txBody>
      </p:sp>
      <p:sp>
        <p:nvSpPr>
          <p:cNvPr id="15" name="anim d"/>
          <p:cNvSpPr txBox="1"/>
          <p:nvPr/>
        </p:nvSpPr>
        <p:spPr>
          <a:xfrm>
            <a:off x="713232" y="3639312"/>
            <a:ext cx="2240280" cy="777240"/>
          </a:xfrm>
          <a:prstGeom prst="rect">
            <a:avLst/>
          </a:prstGeom>
          <a:noFill/>
        </p:spPr>
        <p:txBody>
          <a:bodyPr wrap="square" lIns="0" tIns="0" rIns="0" bIns="0" anchor="t">
            <a:spAutoFit/>
          </a:bodyPr>
          <a:lstStyle/>
          <a:p>
            <a:pPr>
              <a:spcAft>
                <a:spcPts val="0"/>
              </a:spcAft>
            </a:pPr>
            <a:r>
              <a:rPr sz="1100">
                <a:solidFill>
                  <a:schemeClr val="accent5"/>
                </a:solidFill>
              </a:rPr>
              <a:t>Flag combinations of low-risk details that identify a person; swap in one coherent synthetic persona.</a:t>
            </a:r>
          </a:p>
        </p:txBody>
      </p:sp>
      <p:sp>
        <p:nvSpPr>
          <p:cNvPr id="16" name="anim card"/>
          <p:cNvSpPr/>
          <p:nvPr/>
        </p:nvSpPr>
        <p:spPr>
          <a:xfrm>
            <a:off x="3291840" y="2926080"/>
            <a:ext cx="2560320" cy="1508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nim k"/>
          <p:cNvSpPr txBox="1"/>
          <p:nvPr/>
        </p:nvSpPr>
        <p:spPr>
          <a:xfrm>
            <a:off x="3456432" y="3035808"/>
            <a:ext cx="2240280" cy="201168"/>
          </a:xfrm>
          <a:prstGeom prst="rect">
            <a:avLst/>
          </a:prstGeom>
          <a:noFill/>
        </p:spPr>
        <p:txBody>
          <a:bodyPr wrap="square" lIns="0" tIns="0" rIns="0" bIns="0" anchor="t">
            <a:spAutoFit/>
          </a:bodyPr>
          <a:lstStyle/>
          <a:p>
            <a:pPr>
              <a:spcAft>
                <a:spcPts val="0"/>
              </a:spcAft>
            </a:pPr>
            <a:r>
              <a:rPr sz="1100" b="1">
                <a:solidFill>
                  <a:schemeClr val="accent1"/>
                </a:solidFill>
              </a:rPr>
              <a:t>NEXT</a:t>
            </a:r>
          </a:p>
        </p:txBody>
      </p:sp>
      <p:sp>
        <p:nvSpPr>
          <p:cNvPr id="18" name="anim t"/>
          <p:cNvSpPr txBox="1"/>
          <p:nvPr/>
        </p:nvSpPr>
        <p:spPr>
          <a:xfrm>
            <a:off x="3456432" y="3273552"/>
            <a:ext cx="2240280" cy="292608"/>
          </a:xfrm>
          <a:prstGeom prst="rect">
            <a:avLst/>
          </a:prstGeom>
          <a:noFill/>
        </p:spPr>
        <p:txBody>
          <a:bodyPr wrap="square" lIns="0" tIns="0" rIns="0" bIns="0" anchor="t">
            <a:spAutoFit/>
          </a:bodyPr>
          <a:lstStyle/>
          <a:p>
            <a:pPr>
              <a:spcAft>
                <a:spcPts val="0"/>
              </a:spcAft>
            </a:pPr>
            <a:r>
              <a:rPr sz="1700" b="1">
                <a:solidFill>
                  <a:schemeClr val="bg1"/>
                </a:solidFill>
                <a:latin typeface="+mj-lt"/>
              </a:rPr>
              <a:t>Fully local mode</a:t>
            </a:r>
          </a:p>
        </p:txBody>
      </p:sp>
      <p:sp>
        <p:nvSpPr>
          <p:cNvPr id="19" name="anim d"/>
          <p:cNvSpPr txBox="1"/>
          <p:nvPr/>
        </p:nvSpPr>
        <p:spPr>
          <a:xfrm>
            <a:off x="3456432" y="3639312"/>
            <a:ext cx="2240280" cy="777240"/>
          </a:xfrm>
          <a:prstGeom prst="rect">
            <a:avLst/>
          </a:prstGeom>
          <a:noFill/>
        </p:spPr>
        <p:txBody>
          <a:bodyPr wrap="square" lIns="0" tIns="0" rIns="0" bIns="0" anchor="t">
            <a:spAutoFit/>
          </a:bodyPr>
          <a:lstStyle/>
          <a:p>
            <a:pPr>
              <a:spcAft>
                <a:spcPts val="0"/>
              </a:spcAft>
            </a:pPr>
            <a:r>
              <a:rPr sz="1100">
                <a:solidFill>
                  <a:schemeClr val="accent5"/>
                </a:solidFill>
              </a:rPr>
              <a:t>On-device vision model and OCR so no byte leaves the machine, plus a browser extension and desktop agents.</a:t>
            </a:r>
          </a:p>
        </p:txBody>
      </p:sp>
      <p:sp>
        <p:nvSpPr>
          <p:cNvPr id="20" name="anim card"/>
          <p:cNvSpPr/>
          <p:nvPr/>
        </p:nvSpPr>
        <p:spPr>
          <a:xfrm>
            <a:off x="6035040" y="2926080"/>
            <a:ext cx="2560320" cy="1508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anim k"/>
          <p:cNvSpPr txBox="1"/>
          <p:nvPr/>
        </p:nvSpPr>
        <p:spPr>
          <a:xfrm>
            <a:off x="6199631" y="3035808"/>
            <a:ext cx="2240280" cy="201168"/>
          </a:xfrm>
          <a:prstGeom prst="rect">
            <a:avLst/>
          </a:prstGeom>
          <a:noFill/>
        </p:spPr>
        <p:txBody>
          <a:bodyPr wrap="square" lIns="0" tIns="0" rIns="0" bIns="0" anchor="t">
            <a:spAutoFit/>
          </a:bodyPr>
          <a:lstStyle/>
          <a:p>
            <a:pPr>
              <a:spcAft>
                <a:spcPts val="0"/>
              </a:spcAft>
            </a:pPr>
            <a:r>
              <a:rPr sz="1100" b="1">
                <a:solidFill>
                  <a:schemeClr val="accent1"/>
                </a:solidFill>
              </a:rPr>
              <a:t>LATER</a:t>
            </a:r>
          </a:p>
        </p:txBody>
      </p:sp>
      <p:sp>
        <p:nvSpPr>
          <p:cNvPr id="22" name="anim t"/>
          <p:cNvSpPr txBox="1"/>
          <p:nvPr/>
        </p:nvSpPr>
        <p:spPr>
          <a:xfrm>
            <a:off x="6199631" y="3273552"/>
            <a:ext cx="2240280" cy="292608"/>
          </a:xfrm>
          <a:prstGeom prst="rect">
            <a:avLst/>
          </a:prstGeom>
          <a:noFill/>
        </p:spPr>
        <p:txBody>
          <a:bodyPr wrap="square" lIns="0" tIns="0" rIns="0" bIns="0" anchor="t">
            <a:spAutoFit/>
          </a:bodyPr>
          <a:lstStyle/>
          <a:p>
            <a:pPr>
              <a:spcAft>
                <a:spcPts val="0"/>
              </a:spcAft>
            </a:pPr>
            <a:r>
              <a:rPr sz="1700" b="1">
                <a:solidFill>
                  <a:schemeClr val="bg1"/>
                </a:solidFill>
                <a:latin typeface="+mj-lt"/>
              </a:rPr>
              <a:t>Policy and audit</a:t>
            </a:r>
          </a:p>
        </p:txBody>
      </p:sp>
      <p:sp>
        <p:nvSpPr>
          <p:cNvPr id="23" name="anim d"/>
          <p:cNvSpPr txBox="1"/>
          <p:nvPr/>
        </p:nvSpPr>
        <p:spPr>
          <a:xfrm>
            <a:off x="6199631" y="3639312"/>
            <a:ext cx="2240280" cy="777240"/>
          </a:xfrm>
          <a:prstGeom prst="rect">
            <a:avLst/>
          </a:prstGeom>
          <a:noFill/>
        </p:spPr>
        <p:txBody>
          <a:bodyPr wrap="square" lIns="0" tIns="0" rIns="0" bIns="0" anchor="t">
            <a:spAutoFit/>
          </a:bodyPr>
          <a:lstStyle/>
          <a:p>
            <a:pPr>
              <a:spcAft>
                <a:spcPts val="0"/>
              </a:spcAft>
            </a:pPr>
            <a:r>
              <a:rPr sz="1100">
                <a:solidFill>
                  <a:schemeClr val="accent5"/>
                </a:solidFill>
              </a:rPr>
              <a:t>User and enterprise rules, exportable replay logs, richer media: PDFs, video calls, faces.</a:t>
            </a:r>
          </a:p>
        </p:txBody>
      </p:sp>
      <p:sp>
        <p:nvSpPr>
          <p:cNvPr id="24" name="home">
            <a:hlinkClick r:id="rId3" action="ppaction://hlinksldjump" tooltip="Back to title and topics"/>
          </p:cNvPr>
          <p:cNvSpPr txBox="1"/>
          <p:nvPr/>
        </p:nvSpPr>
        <p:spPr>
          <a:xfrm>
            <a:off x="457200" y="4786884"/>
            <a:ext cx="1097280" cy="228600"/>
          </a:xfrm>
          <a:prstGeom prst="rect">
            <a:avLst/>
          </a:prstGeom>
          <a:noFill/>
        </p:spPr>
        <p:txBody>
          <a:bodyPr wrap="square" lIns="0" tIns="0" rIns="0" bIns="0" anchor="t">
            <a:spAutoFit/>
          </a:bodyPr>
          <a:lstStyle/>
          <a:p>
            <a:pPr>
              <a:spcAft>
                <a:spcPts val="0"/>
              </a:spcAft>
            </a:pPr>
            <a:r>
              <a:rPr sz="1000">
                <a:solidFill>
                  <a:schemeClr val="accent5"/>
                </a:solidFill>
              </a:rPr>
              <a:t>⌂ Home</a:t>
            </a:r>
          </a:p>
        </p:txBody>
      </p:sp>
      <p:sp>
        <p:nvSpPr>
          <p:cNvPr id="25" name="nav1">
            <a:hlinkClick r:id="rId3" action="ppaction://hlinksldjump" tooltip="1. Title"/>
          </p:cNvPr>
          <p:cNvSpPr/>
          <p:nvPr/>
        </p:nvSpPr>
        <p:spPr>
          <a:xfrm>
            <a:off x="3364991" y="4727448"/>
            <a:ext cx="237744" cy="237744"/>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1</a:t>
            </a:r>
          </a:p>
        </p:txBody>
      </p:sp>
      <p:sp>
        <p:nvSpPr>
          <p:cNvPr id="26" name="nav2">
            <a:hlinkClick r:id="rId4" action="ppaction://hlinksldjump" tooltip="2. Problem"/>
          </p:cNvPr>
          <p:cNvSpPr/>
          <p:nvPr/>
        </p:nvSpPr>
        <p:spPr>
          <a:xfrm>
            <a:off x="3675887" y="4727448"/>
            <a:ext cx="237744" cy="237744"/>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2</a:t>
            </a:r>
          </a:p>
        </p:txBody>
      </p:sp>
      <p:sp>
        <p:nvSpPr>
          <p:cNvPr id="27" name="nav3">
            <a:hlinkClick r:id="rId5" action="ppaction://hlinksldjump" tooltip="3. Idea"/>
          </p:cNvPr>
          <p:cNvSpPr/>
          <p:nvPr/>
        </p:nvSpPr>
        <p:spPr>
          <a:xfrm>
            <a:off x="3986783" y="4727448"/>
            <a:ext cx="237744" cy="237744"/>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3</a:t>
            </a:r>
          </a:p>
        </p:txBody>
      </p:sp>
      <p:sp>
        <p:nvSpPr>
          <p:cNvPr id="28" name="nav4">
            <a:hlinkClick r:id="rId6" action="ppaction://hlinksldjump" tooltip="4. Architecture"/>
          </p:cNvPr>
          <p:cNvSpPr/>
          <p:nvPr/>
        </p:nvSpPr>
        <p:spPr>
          <a:xfrm>
            <a:off x="4297679" y="4727448"/>
            <a:ext cx="237744" cy="237744"/>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4</a:t>
            </a:r>
          </a:p>
        </p:txBody>
      </p:sp>
      <p:sp>
        <p:nvSpPr>
          <p:cNvPr id="29" name="nav5">
            <a:hlinkClick r:id="rId7" action="ppaction://hlinksldjump" tooltip="5. Pipeline"/>
          </p:cNvPr>
          <p:cNvSpPr/>
          <p:nvPr/>
        </p:nvSpPr>
        <p:spPr>
          <a:xfrm>
            <a:off x="4608576" y="4727448"/>
            <a:ext cx="237744" cy="237744"/>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5</a:t>
            </a:r>
          </a:p>
        </p:txBody>
      </p:sp>
      <p:sp>
        <p:nvSpPr>
          <p:cNvPr id="30" name="nav6">
            <a:hlinkClick r:id="rId8" action="ppaction://hlinksldjump" tooltip="6. Different"/>
          </p:cNvPr>
          <p:cNvSpPr/>
          <p:nvPr/>
        </p:nvSpPr>
        <p:spPr>
          <a:xfrm>
            <a:off x="4919472" y="4727448"/>
            <a:ext cx="237744" cy="237744"/>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6</a:t>
            </a:r>
          </a:p>
        </p:txBody>
      </p:sp>
      <p:sp>
        <p:nvSpPr>
          <p:cNvPr id="31" name="nav7">
            <a:hlinkClick r:id="rId9" action="ppaction://hlinksldjump" tooltip="7. Proof"/>
          </p:cNvPr>
          <p:cNvSpPr/>
          <p:nvPr/>
        </p:nvSpPr>
        <p:spPr>
          <a:xfrm>
            <a:off x="5230368" y="4727448"/>
            <a:ext cx="237744" cy="237744"/>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tx1"/>
                </a:solidFill>
              </a:rPr>
              <a:t>7</a:t>
            </a:r>
          </a:p>
        </p:txBody>
      </p:sp>
      <p:sp>
        <p:nvSpPr>
          <p:cNvPr id="32" name="nav8">
            <a:hlinkClick r:id="rId10" action="ppaction://hlinksldjump" tooltip="8. Roadmap"/>
          </p:cNvPr>
          <p:cNvSpPr/>
          <p:nvPr/>
        </p:nvSpPr>
        <p:spPr>
          <a:xfrm>
            <a:off x="5541264" y="4727448"/>
            <a:ext cx="237744" cy="23774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chemeClr val="bg1"/>
                </a:solidFill>
              </a:rPr>
              <a:t>8</a:t>
            </a:r>
          </a:p>
        </p:txBody>
      </p:sp>
      <p:sp>
        <p:nvSpPr>
          <p:cNvPr id="33" name="prev">
            <a:hlinkClick r:id="rId9" action="ppaction://hlinksldjump" tooltip="Previous slide"/>
          </p:cNvPr>
          <p:cNvSpPr txBox="1"/>
          <p:nvPr/>
        </p:nvSpPr>
        <p:spPr>
          <a:xfrm>
            <a:off x="3054096" y="4700016"/>
            <a:ext cx="256032" cy="274320"/>
          </a:xfrm>
          <a:prstGeom prst="rect">
            <a:avLst/>
          </a:prstGeom>
          <a:noFill/>
        </p:spPr>
        <p:txBody>
          <a:bodyPr wrap="square" lIns="0" tIns="0" rIns="0" bIns="0" anchor="ctr">
            <a:spAutoFit/>
          </a:bodyPr>
          <a:lstStyle/>
          <a:p>
            <a:pPr algn="ctr">
              <a:spcAft>
                <a:spcPts val="0"/>
              </a:spcAft>
            </a:pPr>
            <a:r>
              <a:rPr sz="1800" b="1">
                <a:solidFill>
                  <a:schemeClr val="accent5"/>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13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2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26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26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26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26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2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nodeType="withEffect">
                                  <p:stCondLst>
                                    <p:cond delay="6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nodeType="withEffect">
                                  <p:stCondLst>
                                    <p:cond delay="78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78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78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78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nodeType="withEffect">
                                  <p:stCondLst>
                                    <p:cond delay="91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nodeType="withEffect">
                                  <p:stCondLst>
                                    <p:cond delay="91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91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91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nodeType="withEffect">
                                  <p:stCondLst>
                                    <p:cond delay="104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nodeType="withEffect">
                                  <p:stCondLst>
                                    <p:cond delay="104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nodeType="withEffect">
                                  <p:stCondLst>
                                    <p:cond delay="104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nodeType="withEffect">
                                  <p:stCondLst>
                                    <p:cond delay="104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ivacyLens Ink">
  <a:themeElements>
    <a:clrScheme name="PrivacyLens Ink">
      <a:dk1>
        <a:srgbClr val="0B2545"/>
      </a:dk1>
      <a:lt1>
        <a:srgbClr val="FFFFFF"/>
      </a:lt1>
      <a:dk2>
        <a:srgbClr val="13315C"/>
      </a:dk2>
      <a:lt2>
        <a:srgbClr val="EEF2F6"/>
      </a:lt2>
      <a:accent1>
        <a:srgbClr val="E07A1F"/>
      </a:accent1>
      <a:accent2>
        <a:srgbClr val="2E7D5B"/>
      </a:accent2>
      <a:accent3>
        <a:srgbClr val="C0392B"/>
      </a:accent3>
      <a:accent4>
        <a:srgbClr val="5B6B7F"/>
      </a:accent4>
      <a:accent5>
        <a:srgbClr val="8DA9C4"/>
      </a:accent5>
      <a:accent6>
        <a:srgbClr val="F4B942"/>
      </a:accent6>
      <a:hlink>
        <a:srgbClr val="13315C"/>
      </a:hlink>
      <a:folHlink>
        <a:srgbClr val="5B6B7F"/>
      </a:folHlink>
    </a:clrScheme>
    <a:fontScheme name="PrivacyLens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1618</Words>
  <Application>Microsoft Office PowerPoint</Application>
  <PresentationFormat>On-screen Show (16:9)</PresentationFormat>
  <Paragraphs>297</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PrivacyLens Ink</vt:lpstr>
      <vt:lpstr>PowerPoint Presentation</vt:lpstr>
      <vt:lpstr>PS-004: the problem, and our answer</vt:lpstr>
      <vt:lpstr>Our idea: the Undercover Agent</vt:lpstr>
      <vt:lpstr>Architecture: one trusted gateway</vt:lpstr>
      <vt:lpstr>Pipeline: follow the data</vt:lpstr>
      <vt:lpstr>What makes PrivacyLens different</vt:lpstr>
      <vt:lpstr>Proof: measured, not promised</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PrivacyLens - PS-004</dc:title>
  <dc:subject>PptxGenJS Presentation</dc:subject>
  <dc:creator>PptxGenJS</dc:creator>
  <cp:lastModifiedBy>Madhav Prakash</cp:lastModifiedBy>
  <cp:revision>5</cp:revision>
  <dcterms:created xsi:type="dcterms:W3CDTF">2026-10-30T01:38:06Z</dcterms:created>
  <dcterms:modified xsi:type="dcterms:W3CDTF">2026-10-30T03:10:01Z</dcterms:modified>
</cp:coreProperties>
</file>